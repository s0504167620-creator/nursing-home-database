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840" r:id="rId1"/>
  </p:sldMasterIdLst>
  <p:notesMasterIdLst>
    <p:notesMasterId r:id="rId30"/>
  </p:notesMasterIdLst>
  <p:sldIdLst>
    <p:sldId id="261" r:id="rId2"/>
    <p:sldId id="260" r:id="rId3"/>
    <p:sldId id="262" r:id="rId4"/>
    <p:sldId id="284" r:id="rId5"/>
    <p:sldId id="258" r:id="rId6"/>
    <p:sldId id="264" r:id="rId7"/>
    <p:sldId id="265" r:id="rId8"/>
    <p:sldId id="257" r:id="rId9"/>
    <p:sldId id="268" r:id="rId10"/>
    <p:sldId id="272" r:id="rId11"/>
    <p:sldId id="273" r:id="rId12"/>
    <p:sldId id="274" r:id="rId13"/>
    <p:sldId id="275" r:id="rId14"/>
    <p:sldId id="269" r:id="rId15"/>
    <p:sldId id="270" r:id="rId16"/>
    <p:sldId id="271" r:id="rId17"/>
    <p:sldId id="266" r:id="rId18"/>
    <p:sldId id="267" r:id="rId19"/>
    <p:sldId id="287" r:id="rId20"/>
    <p:sldId id="285" r:id="rId21"/>
    <p:sldId id="277" r:id="rId22"/>
    <p:sldId id="278" r:id="rId23"/>
    <p:sldId id="279" r:id="rId24"/>
    <p:sldId id="280" r:id="rId25"/>
    <p:sldId id="281" r:id="rId26"/>
    <p:sldId id="288" r:id="rId27"/>
    <p:sldId id="286" r:id="rId28"/>
    <p:sldId id="27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4F75"/>
    <a:srgbClr val="016699"/>
    <a:srgbClr val="12BFE8"/>
    <a:srgbClr val="0D8AA7"/>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796" autoAdjust="0"/>
    <p:restoredTop sz="95196" autoAdjust="0"/>
  </p:normalViewPr>
  <p:slideViewPr>
    <p:cSldViewPr snapToGrid="0">
      <p:cViewPr varScale="1">
        <p:scale>
          <a:sx n="79" d="100"/>
          <a:sy n="79" d="100"/>
        </p:scale>
        <p:origin x="67" y="-3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7BA37DED-E231-4BCA-A066-C71A4D215ABF}" type="datetimeFigureOut">
              <a:rPr lang="he-IL" smtClean="0"/>
              <a:t>ל'/סיון/תשפ"ה</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FE42DE74-4CB8-4613-8F5B-05F0CFD6FCDE}" type="slidenum">
              <a:rPr lang="he-IL" smtClean="0"/>
              <a:t>‹#›</a:t>
            </a:fld>
            <a:endParaRPr lang="he-IL"/>
          </a:p>
        </p:txBody>
      </p:sp>
    </p:spTree>
    <p:extLst>
      <p:ext uri="{BB962C8B-B14F-4D97-AF65-F5344CB8AC3E}">
        <p14:creationId xmlns:p14="http://schemas.microsoft.com/office/powerpoint/2010/main" val="245467631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FE42DE74-4CB8-4613-8F5B-05F0CFD6FCDE}" type="slidenum">
              <a:rPr lang="he-IL" smtClean="0"/>
              <a:t>5</a:t>
            </a:fld>
            <a:endParaRPr lang="he-IL"/>
          </a:p>
        </p:txBody>
      </p:sp>
    </p:spTree>
    <p:extLst>
      <p:ext uri="{BB962C8B-B14F-4D97-AF65-F5344CB8AC3E}">
        <p14:creationId xmlns:p14="http://schemas.microsoft.com/office/powerpoint/2010/main" val="2826331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1A87E702-EB5E-4C5D-A8A4-438390D06AF8}" type="datetimeFigureOut">
              <a:rPr lang="he-IL" smtClean="0"/>
              <a:t>ל'/סיון/תשפ"ה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739EE7D-64F6-4949-93D5-AAAB9FA30BA2}" type="slidenum">
              <a:rPr lang="he-IL" smtClean="0"/>
              <a:t>‹#›</a:t>
            </a:fld>
            <a:endParaRPr lang="he-IL"/>
          </a:p>
        </p:txBody>
      </p:sp>
    </p:spTree>
    <p:extLst>
      <p:ext uri="{BB962C8B-B14F-4D97-AF65-F5344CB8AC3E}">
        <p14:creationId xmlns:p14="http://schemas.microsoft.com/office/powerpoint/2010/main" val="594649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1A87E702-EB5E-4C5D-A8A4-438390D06AF8}" type="datetimeFigureOut">
              <a:rPr lang="he-IL" smtClean="0"/>
              <a:t>ל'/סיון/תשפ"ה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739EE7D-64F6-4949-93D5-AAAB9FA30BA2}" type="slidenum">
              <a:rPr lang="he-IL" smtClean="0"/>
              <a:t>‹#›</a:t>
            </a:fld>
            <a:endParaRPr lang="he-IL"/>
          </a:p>
        </p:txBody>
      </p:sp>
    </p:spTree>
    <p:extLst>
      <p:ext uri="{BB962C8B-B14F-4D97-AF65-F5344CB8AC3E}">
        <p14:creationId xmlns:p14="http://schemas.microsoft.com/office/powerpoint/2010/main" val="166878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1A87E702-EB5E-4C5D-A8A4-438390D06AF8}" type="datetimeFigureOut">
              <a:rPr lang="he-IL" smtClean="0"/>
              <a:t>ל'/סיון/תשפ"ה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739EE7D-64F6-4949-93D5-AAAB9FA30BA2}" type="slidenum">
              <a:rPr lang="he-IL" smtClean="0"/>
              <a:t>‹#›</a:t>
            </a:fld>
            <a:endParaRPr lang="he-IL"/>
          </a:p>
        </p:txBody>
      </p:sp>
    </p:spTree>
    <p:extLst>
      <p:ext uri="{BB962C8B-B14F-4D97-AF65-F5344CB8AC3E}">
        <p14:creationId xmlns:p14="http://schemas.microsoft.com/office/powerpoint/2010/main" val="3362128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1A87E702-EB5E-4C5D-A8A4-438390D06AF8}" type="datetimeFigureOut">
              <a:rPr lang="he-IL" smtClean="0"/>
              <a:t>ל'/סיון/תשפ"ה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7739EE7D-64F6-4949-93D5-AAAB9FA30BA2}" type="slidenum">
              <a:rPr lang="he-IL" smtClean="0"/>
              <a:t>‹#›</a:t>
            </a:fld>
            <a:endParaRPr lang="he-IL"/>
          </a:p>
        </p:txBody>
      </p:sp>
    </p:spTree>
    <p:extLst>
      <p:ext uri="{BB962C8B-B14F-4D97-AF65-F5344CB8AC3E}">
        <p14:creationId xmlns:p14="http://schemas.microsoft.com/office/powerpoint/2010/main" val="2472909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1A87E702-EB5E-4C5D-A8A4-438390D06AF8}" type="datetimeFigureOut">
              <a:rPr lang="he-IL" smtClean="0"/>
              <a:t>ל'/סיון/תשפ"ה</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7739EE7D-64F6-4949-93D5-AAAB9FA30BA2}" type="slidenum">
              <a:rPr lang="he-IL" smtClean="0"/>
              <a:t>‹#›</a:t>
            </a:fld>
            <a:endParaRPr lang="he-IL"/>
          </a:p>
        </p:txBody>
      </p:sp>
    </p:spTree>
    <p:extLst>
      <p:ext uri="{BB962C8B-B14F-4D97-AF65-F5344CB8AC3E}">
        <p14:creationId xmlns:p14="http://schemas.microsoft.com/office/powerpoint/2010/main" val="4101202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1A87E702-EB5E-4C5D-A8A4-438390D06AF8}" type="datetimeFigureOut">
              <a:rPr lang="he-IL" smtClean="0"/>
              <a:t>ל'/סיון/תשפ"ה</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7739EE7D-64F6-4949-93D5-AAAB9FA30BA2}" type="slidenum">
              <a:rPr lang="he-IL" smtClean="0"/>
              <a:t>‹#›</a:t>
            </a:fld>
            <a:endParaRPr lang="he-IL"/>
          </a:p>
        </p:txBody>
      </p:sp>
    </p:spTree>
    <p:extLst>
      <p:ext uri="{BB962C8B-B14F-4D97-AF65-F5344CB8AC3E}">
        <p14:creationId xmlns:p14="http://schemas.microsoft.com/office/powerpoint/2010/main" val="1510995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87E702-EB5E-4C5D-A8A4-438390D06AF8}" type="datetimeFigureOut">
              <a:rPr lang="he-IL" smtClean="0"/>
              <a:t>ל'/סיון/תשפ"ה</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7739EE7D-64F6-4949-93D5-AAAB9FA30BA2}" type="slidenum">
              <a:rPr lang="he-IL" smtClean="0"/>
              <a:t>‹#›</a:t>
            </a:fld>
            <a:endParaRPr lang="he-IL"/>
          </a:p>
        </p:txBody>
      </p:sp>
    </p:spTree>
    <p:extLst>
      <p:ext uri="{BB962C8B-B14F-4D97-AF65-F5344CB8AC3E}">
        <p14:creationId xmlns:p14="http://schemas.microsoft.com/office/powerpoint/2010/main" val="509425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1A87E702-EB5E-4C5D-A8A4-438390D06AF8}" type="datetimeFigureOut">
              <a:rPr lang="he-IL" smtClean="0"/>
              <a:t>ל'/סיון/תשפ"ה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7739EE7D-64F6-4949-93D5-AAAB9FA30BA2}" type="slidenum">
              <a:rPr lang="he-IL" smtClean="0"/>
              <a:t>‹#›</a:t>
            </a:fld>
            <a:endParaRPr lang="he-IL"/>
          </a:p>
        </p:txBody>
      </p:sp>
    </p:spTree>
    <p:extLst>
      <p:ext uri="{BB962C8B-B14F-4D97-AF65-F5344CB8AC3E}">
        <p14:creationId xmlns:p14="http://schemas.microsoft.com/office/powerpoint/2010/main" val="2961765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1A87E702-EB5E-4C5D-A8A4-438390D06AF8}" type="datetimeFigureOut">
              <a:rPr lang="he-IL" smtClean="0"/>
              <a:t>ל'/סיון/תשפ"ה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7739EE7D-64F6-4949-93D5-AAAB9FA30BA2}" type="slidenum">
              <a:rPr lang="he-IL" smtClean="0"/>
              <a:t>‹#›</a:t>
            </a:fld>
            <a:endParaRPr lang="he-IL"/>
          </a:p>
        </p:txBody>
      </p:sp>
    </p:spTree>
    <p:extLst>
      <p:ext uri="{BB962C8B-B14F-4D97-AF65-F5344CB8AC3E}">
        <p14:creationId xmlns:p14="http://schemas.microsoft.com/office/powerpoint/2010/main" val="2954995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1A87E702-EB5E-4C5D-A8A4-438390D06AF8}" type="datetimeFigureOut">
              <a:rPr lang="he-IL" smtClean="0"/>
              <a:t>ל'/סיון/תשפ"ה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739EE7D-64F6-4949-93D5-AAAB9FA30BA2}" type="slidenum">
              <a:rPr lang="he-IL" smtClean="0"/>
              <a:t>‹#›</a:t>
            </a:fld>
            <a:endParaRPr lang="he-IL"/>
          </a:p>
        </p:txBody>
      </p:sp>
    </p:spTree>
    <p:extLst>
      <p:ext uri="{BB962C8B-B14F-4D97-AF65-F5344CB8AC3E}">
        <p14:creationId xmlns:p14="http://schemas.microsoft.com/office/powerpoint/2010/main" val="2870463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1A87E702-EB5E-4C5D-A8A4-438390D06AF8}" type="datetimeFigureOut">
              <a:rPr lang="he-IL" smtClean="0"/>
              <a:t>ל'/סיון/תשפ"ה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7739EE7D-64F6-4949-93D5-AAAB9FA30BA2}" type="slidenum">
              <a:rPr lang="he-IL" smtClean="0"/>
              <a:t>‹#›</a:t>
            </a:fld>
            <a:endParaRPr lang="he-IL"/>
          </a:p>
        </p:txBody>
      </p:sp>
    </p:spTree>
    <p:extLst>
      <p:ext uri="{BB962C8B-B14F-4D97-AF65-F5344CB8AC3E}">
        <p14:creationId xmlns:p14="http://schemas.microsoft.com/office/powerpoint/2010/main" val="3243200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87E702-EB5E-4C5D-A8A4-438390D06AF8}" type="datetimeFigureOut">
              <a:rPr lang="he-IL" smtClean="0"/>
              <a:t>ל'/סיון/תשפ"ה</a:t>
            </a:fld>
            <a:endParaRPr lang="he-IL"/>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39EE7D-64F6-4949-93D5-AAAB9FA30BA2}" type="slidenum">
              <a:rPr lang="he-IL" smtClean="0"/>
              <a:t>‹#›</a:t>
            </a:fld>
            <a:endParaRPr lang="he-IL"/>
          </a:p>
        </p:txBody>
      </p:sp>
    </p:spTree>
    <p:extLst>
      <p:ext uri="{BB962C8B-B14F-4D97-AF65-F5344CB8AC3E}">
        <p14:creationId xmlns:p14="http://schemas.microsoft.com/office/powerpoint/2010/main" val="1057667183"/>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תמונה 16">
            <a:extLst>
              <a:ext uri="{FF2B5EF4-FFF2-40B4-BE49-F238E27FC236}">
                <a16:creationId xmlns:a16="http://schemas.microsoft.com/office/drawing/2014/main" id="{914A4789-2320-FD3E-3CB8-C9A20B11E6E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331961" y="417443"/>
            <a:ext cx="7206244" cy="6328063"/>
          </a:xfrm>
          <a:prstGeom prst="rect">
            <a:avLst/>
          </a:prstGeom>
        </p:spPr>
      </p:pic>
      <p:sp>
        <p:nvSpPr>
          <p:cNvPr id="3" name="מציין מיקום תוכן 2">
            <a:extLst>
              <a:ext uri="{FF2B5EF4-FFF2-40B4-BE49-F238E27FC236}">
                <a16:creationId xmlns:a16="http://schemas.microsoft.com/office/drawing/2014/main" id="{9F5BDA48-CB69-23F2-9F63-0D6A1C272209}"/>
              </a:ext>
            </a:extLst>
          </p:cNvPr>
          <p:cNvSpPr>
            <a:spLocks noGrp="1"/>
          </p:cNvSpPr>
          <p:nvPr>
            <p:ph idx="1"/>
          </p:nvPr>
        </p:nvSpPr>
        <p:spPr>
          <a:xfrm>
            <a:off x="3898569" y="417443"/>
            <a:ext cx="4394861" cy="1172366"/>
          </a:xfrm>
        </p:spPr>
        <p:txBody>
          <a:bodyPr>
            <a:normAutofit fontScale="92500"/>
          </a:bodyPr>
          <a:lstStyle/>
          <a:p>
            <a:pPr marL="0" indent="0">
              <a:buNone/>
            </a:pPr>
            <a:r>
              <a:rPr lang="he-IL" sz="5400" b="1" i="1" dirty="0">
                <a:solidFill>
                  <a:schemeClr val="tx1">
                    <a:lumMod val="85000"/>
                    <a:lumOff val="15000"/>
                  </a:schemeClr>
                </a:solidFill>
              </a:rPr>
              <a:t>נושא: בית אבות</a:t>
            </a:r>
          </a:p>
        </p:txBody>
      </p:sp>
      <p:sp>
        <p:nvSpPr>
          <p:cNvPr id="4" name="מציין מיקום תוכן 2">
            <a:extLst>
              <a:ext uri="{FF2B5EF4-FFF2-40B4-BE49-F238E27FC236}">
                <a16:creationId xmlns:a16="http://schemas.microsoft.com/office/drawing/2014/main" id="{71B8F7C9-6E08-B0C4-0087-1755B888CED8}"/>
              </a:ext>
            </a:extLst>
          </p:cNvPr>
          <p:cNvSpPr txBox="1">
            <a:spLocks/>
          </p:cNvSpPr>
          <p:nvPr/>
        </p:nvSpPr>
        <p:spPr>
          <a:xfrm>
            <a:off x="4256707" y="5344762"/>
            <a:ext cx="3678583" cy="381880"/>
          </a:xfrm>
          <a:prstGeom prst="rect">
            <a:avLst/>
          </a:prstGeom>
        </p:spPr>
        <p:txBody>
          <a:bodyPr vert="horz" lIns="91440" tIns="45720" rIns="91440" bIns="45720" rtlCol="0">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he-IL" sz="2000" b="1" i="1" dirty="0">
                <a:solidFill>
                  <a:schemeClr val="tx1">
                    <a:lumMod val="85000"/>
                    <a:lumOff val="15000"/>
                  </a:schemeClr>
                </a:solidFill>
              </a:rPr>
              <a:t>סביבת עבודה: </a:t>
            </a:r>
            <a:r>
              <a:rPr lang="en-US" sz="2000" b="1" i="1" dirty="0" err="1">
                <a:solidFill>
                  <a:schemeClr val="tx1">
                    <a:lumMod val="85000"/>
                    <a:lumOff val="15000"/>
                  </a:schemeClr>
                </a:solidFill>
              </a:rPr>
              <a:t>Sqlserver</a:t>
            </a:r>
            <a:endParaRPr lang="he-IL" sz="2000" b="1" i="1" dirty="0">
              <a:solidFill>
                <a:schemeClr val="tx1">
                  <a:lumMod val="85000"/>
                  <a:lumOff val="15000"/>
                </a:schemeClr>
              </a:solidFill>
            </a:endParaRPr>
          </a:p>
        </p:txBody>
      </p:sp>
      <p:sp>
        <p:nvSpPr>
          <p:cNvPr id="6" name="מציין מיקום תוכן 2">
            <a:extLst>
              <a:ext uri="{FF2B5EF4-FFF2-40B4-BE49-F238E27FC236}">
                <a16:creationId xmlns:a16="http://schemas.microsoft.com/office/drawing/2014/main" id="{3406634F-5DFA-5D5B-8D1E-634239038036}"/>
              </a:ext>
            </a:extLst>
          </p:cNvPr>
          <p:cNvSpPr txBox="1">
            <a:spLocks/>
          </p:cNvSpPr>
          <p:nvPr/>
        </p:nvSpPr>
        <p:spPr>
          <a:xfrm>
            <a:off x="5396203" y="5826087"/>
            <a:ext cx="2073024" cy="381880"/>
          </a:xfrm>
          <a:prstGeom prst="rect">
            <a:avLst/>
          </a:prstGeom>
        </p:spPr>
        <p:txBody>
          <a:bodyPr vert="horz" lIns="91440" tIns="45720" rIns="91440" bIns="45720" rtlCol="0">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he-IL" sz="2000" b="1" i="1" dirty="0">
                <a:solidFill>
                  <a:schemeClr val="tx1">
                    <a:lumMod val="85000"/>
                    <a:lumOff val="15000"/>
                  </a:schemeClr>
                </a:solidFill>
              </a:rPr>
              <a:t>מאת: שרה יצחק</a:t>
            </a:r>
          </a:p>
        </p:txBody>
      </p:sp>
    </p:spTree>
    <p:extLst>
      <p:ext uri="{BB962C8B-B14F-4D97-AF65-F5344CB8AC3E}">
        <p14:creationId xmlns:p14="http://schemas.microsoft.com/office/powerpoint/2010/main" val="1307570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AC3D980A-62D9-727C-9334-F45AB0ADF6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64" y="0"/>
            <a:ext cx="12206364" cy="6900791"/>
          </a:xfrm>
          <a:prstGeom prst="rect">
            <a:avLst/>
          </a:prstGeom>
        </p:spPr>
      </p:pic>
      <p:sp>
        <p:nvSpPr>
          <p:cNvPr id="4" name="כותרת 1">
            <a:extLst>
              <a:ext uri="{FF2B5EF4-FFF2-40B4-BE49-F238E27FC236}">
                <a16:creationId xmlns:a16="http://schemas.microsoft.com/office/drawing/2014/main" id="{51372F8D-E117-F70A-4A72-1268D39B16AB}"/>
              </a:ext>
            </a:extLst>
          </p:cNvPr>
          <p:cNvSpPr>
            <a:spLocks noGrp="1"/>
          </p:cNvSpPr>
          <p:nvPr>
            <p:ph type="title"/>
          </p:nvPr>
        </p:nvSpPr>
        <p:spPr>
          <a:xfrm>
            <a:off x="9221738" y="100621"/>
            <a:ext cx="1711539" cy="954809"/>
          </a:xfrm>
        </p:spPr>
        <p:txBody>
          <a:bodyPr/>
          <a:lstStyle/>
          <a:p>
            <a:r>
              <a:rPr lang="he-IL" b="1" i="1" dirty="0">
                <a:solidFill>
                  <a:schemeClr val="tx2">
                    <a:lumMod val="60000"/>
                    <a:lumOff val="40000"/>
                  </a:schemeClr>
                </a:solidFill>
                <a:latin typeface="Arial" panose="020B0604020202020204" pitchFamily="34" charset="0"/>
                <a:cs typeface="Arial" panose="020B0604020202020204" pitchFamily="34" charset="0"/>
              </a:rPr>
              <a:t>מבוא:</a:t>
            </a:r>
          </a:p>
        </p:txBody>
      </p:sp>
      <p:sp>
        <p:nvSpPr>
          <p:cNvPr id="5" name="כותרת 1">
            <a:extLst>
              <a:ext uri="{FF2B5EF4-FFF2-40B4-BE49-F238E27FC236}">
                <a16:creationId xmlns:a16="http://schemas.microsoft.com/office/drawing/2014/main" id="{EABD8D88-BFCF-550D-4D5C-AADF90F05616}"/>
              </a:ext>
            </a:extLst>
          </p:cNvPr>
          <p:cNvSpPr txBox="1">
            <a:spLocks/>
          </p:cNvSpPr>
          <p:nvPr/>
        </p:nvSpPr>
        <p:spPr>
          <a:xfrm>
            <a:off x="8190690" y="877073"/>
            <a:ext cx="3317132" cy="843638"/>
          </a:xfrm>
          <a:prstGeom prst="rect">
            <a:avLst/>
          </a:prstGeom>
        </p:spPr>
        <p:txBody>
          <a:bodyPr vert="horz" lIns="91440" tIns="45720" rIns="91440" bIns="45720" rtlCol="0" anchor="ctr">
            <a:normAutofit fontScale="92500"/>
          </a:bodyPr>
          <a:lstStyle>
            <a:lvl1pPr algn="l"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תיאור הארגון:</a:t>
            </a:r>
          </a:p>
        </p:txBody>
      </p:sp>
      <p:sp>
        <p:nvSpPr>
          <p:cNvPr id="6" name="תיבת טקסט 5">
            <a:extLst>
              <a:ext uri="{FF2B5EF4-FFF2-40B4-BE49-F238E27FC236}">
                <a16:creationId xmlns:a16="http://schemas.microsoft.com/office/drawing/2014/main" id="{F0C9A5AD-CB3C-1662-C1D3-8F91D649A192}"/>
              </a:ext>
            </a:extLst>
          </p:cNvPr>
          <p:cNvSpPr txBox="1"/>
          <p:nvPr/>
        </p:nvSpPr>
        <p:spPr>
          <a:xfrm>
            <a:off x="2621902" y="1763800"/>
            <a:ext cx="8622230" cy="3074624"/>
          </a:xfrm>
          <a:prstGeom prst="rect">
            <a:avLst/>
          </a:prstGeom>
          <a:noFill/>
        </p:spPr>
        <p:txBody>
          <a:bodyPr wrap="square">
            <a:spAutoFit/>
          </a:bodyPr>
          <a:lstStyle/>
          <a:p>
            <a:pPr algn="r">
              <a:lnSpc>
                <a:spcPct val="200000"/>
              </a:lnSpc>
            </a:pPr>
            <a:r>
              <a:rPr lang="he-IL" sz="2000" dirty="0"/>
              <a:t>בית האבות "גיל הזהב" הוא מוסד סיעודי המעניק טיפול מקיף לדיירים קשישים, הכולל לינה, טיפול אישי, פעילויות חברתיות ופיזיות, והשכרת ציוד רפואי. בית האבות מעסיק צוות אחיות מסור, אחראי על חדרים ומתקנים, ומציע מגוון פעילויות להעשרת חיי הדיירים. המערכת הממוחשבת נועדה לסייע בניהול היעיל של הדיירים, החדרים, הציוד, הפעילויות והצוות</a:t>
            </a:r>
            <a:r>
              <a:rPr lang="he-IL" dirty="0"/>
              <a:t>.</a:t>
            </a:r>
          </a:p>
        </p:txBody>
      </p:sp>
    </p:spTree>
    <p:extLst>
      <p:ext uri="{BB962C8B-B14F-4D97-AF65-F5344CB8AC3E}">
        <p14:creationId xmlns:p14="http://schemas.microsoft.com/office/powerpoint/2010/main" val="3335111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C74D7755-2FE2-47D4-8F71-0262A6444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396"/>
            <a:ext cx="12206364" cy="6900791"/>
          </a:xfrm>
          <a:prstGeom prst="rect">
            <a:avLst/>
          </a:prstGeom>
        </p:spPr>
      </p:pic>
      <p:sp>
        <p:nvSpPr>
          <p:cNvPr id="4" name="כותרת 1">
            <a:extLst>
              <a:ext uri="{FF2B5EF4-FFF2-40B4-BE49-F238E27FC236}">
                <a16:creationId xmlns:a16="http://schemas.microsoft.com/office/drawing/2014/main" id="{9342C7AF-AA2E-EF2F-B8D9-94E199CFF851}"/>
              </a:ext>
            </a:extLst>
          </p:cNvPr>
          <p:cNvSpPr txBox="1">
            <a:spLocks/>
          </p:cNvSpPr>
          <p:nvPr/>
        </p:nvSpPr>
        <p:spPr>
          <a:xfrm>
            <a:off x="6898400" y="251926"/>
            <a:ext cx="4055739" cy="1325563"/>
          </a:xfrm>
          <a:prstGeom prst="rect">
            <a:avLst/>
          </a:prstGeom>
        </p:spPr>
        <p:txBody>
          <a:bodyPr vert="horz" lIns="91440" tIns="45720" rIns="91440" bIns="45720" rtlCol="0" anchor="ctr">
            <a:normAutofit/>
          </a:bodyPr>
          <a:lstStyle>
            <a:lvl1pPr algn="l"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מטרות הפרויקט:</a:t>
            </a:r>
          </a:p>
        </p:txBody>
      </p:sp>
      <p:sp>
        <p:nvSpPr>
          <p:cNvPr id="6" name="תיבת טקסט 5">
            <a:extLst>
              <a:ext uri="{FF2B5EF4-FFF2-40B4-BE49-F238E27FC236}">
                <a16:creationId xmlns:a16="http://schemas.microsoft.com/office/drawing/2014/main" id="{76C69B7B-6E1A-30BB-63E3-C872ADE746FF}"/>
              </a:ext>
            </a:extLst>
          </p:cNvPr>
          <p:cNvSpPr txBox="1"/>
          <p:nvPr/>
        </p:nvSpPr>
        <p:spPr>
          <a:xfrm>
            <a:off x="233266" y="1486800"/>
            <a:ext cx="10720873" cy="4069063"/>
          </a:xfrm>
          <a:prstGeom prst="rect">
            <a:avLst/>
          </a:prstGeom>
          <a:noFill/>
        </p:spPr>
        <p:txBody>
          <a:bodyPr wrap="square">
            <a:spAutoFit/>
          </a:bodyPr>
          <a:lstStyle/>
          <a:p>
            <a:pPr algn="r">
              <a:lnSpc>
                <a:spcPct val="200000"/>
              </a:lnSpc>
              <a:buNone/>
            </a:pPr>
            <a:r>
              <a:rPr lang="he-IL" sz="2400" dirty="0"/>
              <a:t>פרויקט זה נועד לפתח מערכת מידע שתאפשר:</a:t>
            </a:r>
          </a:p>
          <a:p>
            <a:pPr algn="r">
              <a:lnSpc>
                <a:spcPct val="200000"/>
              </a:lnSpc>
            </a:pPr>
            <a:r>
              <a:rPr lang="he-IL" dirty="0"/>
              <a:t>1. ניהול יעיל וממוחשב של פרטי המטופלים, כולל פרטי קשר, תאריך לידה, ושיוך לחדרים ופעילויות.</a:t>
            </a:r>
          </a:p>
          <a:p>
            <a:pPr algn="r">
              <a:lnSpc>
                <a:spcPct val="200000"/>
              </a:lnSpc>
            </a:pPr>
            <a:r>
              <a:rPr lang="he-IL" dirty="0"/>
              <a:t>2. מעקב וניהול מלאי ציוד רפואי זמין להשכרה למטופלים.</a:t>
            </a:r>
          </a:p>
          <a:p>
            <a:pPr algn="r">
              <a:lnSpc>
                <a:spcPct val="200000"/>
              </a:lnSpc>
            </a:pPr>
            <a:r>
              <a:rPr lang="he-IL" dirty="0"/>
              <a:t>3. שיבוץ מטופלים לחדרים והעברתם בין חדרים תוך עדכון תשלומים.</a:t>
            </a:r>
          </a:p>
          <a:p>
            <a:pPr algn="r">
              <a:lnSpc>
                <a:spcPct val="200000"/>
              </a:lnSpc>
            </a:pPr>
            <a:r>
              <a:rPr lang="he-IL" dirty="0"/>
              <a:t>4. מעקב אחר השתתפות מטופלים בפעילויות ועדכון אוטומטי של ספירת המשתתפים.</a:t>
            </a:r>
          </a:p>
          <a:p>
            <a:pPr algn="r">
              <a:lnSpc>
                <a:spcPct val="200000"/>
              </a:lnSpc>
            </a:pPr>
            <a:r>
              <a:rPr lang="he-IL" dirty="0"/>
              <a:t>5. ניהול נתוני אחיות, חדרי בית האבות והקשרים ביניהם.</a:t>
            </a:r>
          </a:p>
          <a:p>
            <a:pPr algn="r">
              <a:lnSpc>
                <a:spcPct val="200000"/>
              </a:lnSpc>
            </a:pPr>
            <a:r>
              <a:rPr lang="he-IL" dirty="0"/>
              <a:t>6. עדכון אוטומטי של כמות המטופלים בפעילויות כאשר מטופל מצטרף או מחליף פעילות.</a:t>
            </a:r>
          </a:p>
        </p:txBody>
      </p:sp>
    </p:spTree>
    <p:extLst>
      <p:ext uri="{BB962C8B-B14F-4D97-AF65-F5344CB8AC3E}">
        <p14:creationId xmlns:p14="http://schemas.microsoft.com/office/powerpoint/2010/main" val="3573921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7093F-1C76-D43B-8173-57E6EC7E2D85}"/>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893A7CF8-3296-8DA3-857E-9420FE94CE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2596"/>
            <a:ext cx="12237027" cy="7100596"/>
          </a:xfrm>
          <a:prstGeom prst="rect">
            <a:avLst/>
          </a:prstGeom>
        </p:spPr>
      </p:pic>
      <p:sp>
        <p:nvSpPr>
          <p:cNvPr id="2" name="כותרת 1">
            <a:extLst>
              <a:ext uri="{FF2B5EF4-FFF2-40B4-BE49-F238E27FC236}">
                <a16:creationId xmlns:a16="http://schemas.microsoft.com/office/drawing/2014/main" id="{78007C50-BD5B-8799-292C-173249BEFD83}"/>
              </a:ext>
            </a:extLst>
          </p:cNvPr>
          <p:cNvSpPr txBox="1">
            <a:spLocks/>
          </p:cNvSpPr>
          <p:nvPr/>
        </p:nvSpPr>
        <p:spPr>
          <a:xfrm>
            <a:off x="5532605" y="318258"/>
            <a:ext cx="5466183" cy="1453700"/>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משתמשי המערכת:</a:t>
            </a:r>
          </a:p>
        </p:txBody>
      </p:sp>
      <p:sp>
        <p:nvSpPr>
          <p:cNvPr id="5" name="Rectangle 1">
            <a:extLst>
              <a:ext uri="{FF2B5EF4-FFF2-40B4-BE49-F238E27FC236}">
                <a16:creationId xmlns:a16="http://schemas.microsoft.com/office/drawing/2014/main" id="{48612FE6-CE80-04F3-86D6-5F454E559470}"/>
              </a:ext>
            </a:extLst>
          </p:cNvPr>
          <p:cNvSpPr>
            <a:spLocks noChangeArrowheads="1"/>
          </p:cNvSpPr>
          <p:nvPr/>
        </p:nvSpPr>
        <p:spPr bwMode="auto">
          <a:xfrm>
            <a:off x="1193212" y="1771958"/>
            <a:ext cx="10746853" cy="2222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200000"/>
              </a:lnSpc>
              <a:spcBef>
                <a:spcPct val="0"/>
              </a:spcBef>
              <a:spcAft>
                <a:spcPct val="0"/>
              </a:spcAft>
              <a:buClrTx/>
              <a:buSzTx/>
              <a:tabLst/>
            </a:pPr>
            <a:r>
              <a:rPr kumimoji="0" lang="he-IL" altLang="he-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מנהל/ת בית האבות:</a:t>
            </a:r>
            <a:r>
              <a:rPr kumimoji="0" lang="he-IL" altLang="he-IL" sz="1800" b="0" i="0" u="none" strike="noStrike" cap="none" normalizeH="0" baseline="0" dirty="0">
                <a:ln>
                  <a:noFill/>
                </a:ln>
                <a:solidFill>
                  <a:schemeClr val="tx1"/>
                </a:solidFill>
                <a:effectLst/>
                <a:latin typeface="Arial" panose="020B0604020202020204" pitchFamily="34" charset="0"/>
              </a:rPr>
              <a:t> </a:t>
            </a:r>
            <a:r>
              <a:rPr kumimoji="0" lang="he-IL" altLang="he-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גישה מלאה לכל המידע ולכל הפונקציונליות במערכת (ניהול דיירים, חדרים, ציוד, פעילויות, צוות)</a:t>
            </a:r>
            <a:r>
              <a:rPr kumimoji="0" lang="he-IL" altLang="he-IL" sz="1800" b="0" i="0" u="none" strike="noStrike" cap="none" normalizeH="0" baseline="0" dirty="0">
                <a:ln>
                  <a:noFill/>
                </a:ln>
                <a:solidFill>
                  <a:schemeClr val="tx1"/>
                </a:solidFill>
                <a:effectLst/>
                <a:latin typeface="Arial" panose="020B0604020202020204" pitchFamily="34" charset="0"/>
              </a:rPr>
              <a:t>.</a:t>
            </a:r>
          </a:p>
          <a:p>
            <a:pPr marL="0" marR="0" lvl="0" indent="0" algn="r" defTabSz="914400" rtl="0" eaLnBrk="0" fontAlgn="base" latinLnBrk="0" hangingPunct="0">
              <a:lnSpc>
                <a:spcPct val="200000"/>
              </a:lnSpc>
              <a:spcBef>
                <a:spcPct val="0"/>
              </a:spcBef>
              <a:spcAft>
                <a:spcPct val="0"/>
              </a:spcAft>
              <a:buClrTx/>
              <a:buSzTx/>
              <a:tabLst/>
            </a:pPr>
            <a:r>
              <a:rPr kumimoji="0" lang="he-IL" altLang="he-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אחראי/ת חדרים:</a:t>
            </a:r>
            <a:r>
              <a:rPr kumimoji="0" lang="he-IL" altLang="he-IL" sz="1800" b="0" i="0" u="none" strike="noStrike" cap="none" normalizeH="0" baseline="0" dirty="0">
                <a:ln>
                  <a:noFill/>
                </a:ln>
                <a:solidFill>
                  <a:schemeClr val="tx1"/>
                </a:solidFill>
                <a:effectLst/>
                <a:latin typeface="Arial" panose="020B0604020202020204" pitchFamily="34" charset="0"/>
              </a:rPr>
              <a:t> </a:t>
            </a:r>
            <a:r>
              <a:rPr kumimoji="0" lang="he-IL" altLang="he-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גישה לפרטי חדרים, שיבוץ והעברת דיירים, וניהול ציוד רפואי</a:t>
            </a:r>
            <a:r>
              <a:rPr kumimoji="0" lang="he-IL" altLang="he-IL" sz="1800" b="0" i="0" u="none" strike="noStrike" cap="none" normalizeH="0" baseline="0" dirty="0">
                <a:ln>
                  <a:noFill/>
                </a:ln>
                <a:solidFill>
                  <a:schemeClr val="tx1"/>
                </a:solidFill>
                <a:effectLst/>
                <a:latin typeface="Arial" panose="020B0604020202020204" pitchFamily="34" charset="0"/>
              </a:rPr>
              <a:t>.</a:t>
            </a:r>
          </a:p>
          <a:p>
            <a:pPr marL="0" marR="0" lvl="0" indent="0" algn="r" defTabSz="914400" rtl="0" eaLnBrk="0" fontAlgn="base" latinLnBrk="0" hangingPunct="0">
              <a:lnSpc>
                <a:spcPct val="200000"/>
              </a:lnSpc>
              <a:spcBef>
                <a:spcPct val="0"/>
              </a:spcBef>
              <a:spcAft>
                <a:spcPct val="0"/>
              </a:spcAft>
              <a:buClrTx/>
              <a:buSzTx/>
              <a:tabLst/>
            </a:pPr>
            <a:r>
              <a:rPr kumimoji="0" lang="he-IL" altLang="he-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אחיות:</a:t>
            </a:r>
            <a:r>
              <a:rPr kumimoji="0" lang="he-IL" altLang="he-IL" sz="1800" b="0" i="0" u="none" strike="noStrike" cap="none" normalizeH="0" baseline="0" dirty="0">
                <a:ln>
                  <a:noFill/>
                </a:ln>
                <a:solidFill>
                  <a:schemeClr val="tx1"/>
                </a:solidFill>
                <a:effectLst/>
                <a:latin typeface="Arial" panose="020B0604020202020204" pitchFamily="34" charset="0"/>
              </a:rPr>
              <a:t> </a:t>
            </a:r>
            <a:r>
              <a:rPr kumimoji="0" lang="he-IL" altLang="he-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גישה לפרטי מטופלים בחדרים שעליהם הם אחראים, ולפרטי פעילויות</a:t>
            </a:r>
            <a:r>
              <a:rPr kumimoji="0" lang="he-IL" altLang="he-IL" sz="1800" b="0" i="0" u="none" strike="noStrike" cap="none" normalizeH="0" baseline="0" dirty="0">
                <a:ln>
                  <a:noFill/>
                </a:ln>
                <a:solidFill>
                  <a:schemeClr val="tx1"/>
                </a:solidFill>
                <a:effectLst/>
                <a:latin typeface="Arial" panose="020B0604020202020204" pitchFamily="34" charset="0"/>
              </a:rPr>
              <a:t>.</a:t>
            </a:r>
          </a:p>
          <a:p>
            <a:pPr marL="0" marR="0" lvl="0" indent="0" algn="r" defTabSz="914400" rtl="0" eaLnBrk="0" fontAlgn="base" latinLnBrk="0" hangingPunct="0">
              <a:lnSpc>
                <a:spcPct val="200000"/>
              </a:lnSpc>
              <a:spcBef>
                <a:spcPct val="0"/>
              </a:spcBef>
              <a:spcAft>
                <a:spcPct val="0"/>
              </a:spcAft>
              <a:buClrTx/>
              <a:buSzTx/>
              <a:tabLst/>
            </a:pPr>
            <a:r>
              <a:rPr kumimoji="0" lang="he-IL" altLang="he-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מנהל/ת פעילויות:</a:t>
            </a:r>
            <a:r>
              <a:rPr kumimoji="0" lang="he-IL" altLang="he-IL" sz="1800" b="0" i="0" u="none" strike="noStrike" cap="none" normalizeH="0" baseline="0" dirty="0">
                <a:ln>
                  <a:noFill/>
                </a:ln>
                <a:solidFill>
                  <a:schemeClr val="tx1"/>
                </a:solidFill>
                <a:effectLst/>
                <a:latin typeface="Arial" panose="020B0604020202020204" pitchFamily="34" charset="0"/>
              </a:rPr>
              <a:t> </a:t>
            </a:r>
            <a:r>
              <a:rPr kumimoji="0" lang="he-IL" altLang="he-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גישה לפרטי פעילויות, רישום מטופלים ועדכון נתונים</a:t>
            </a:r>
            <a:r>
              <a:rPr kumimoji="0" lang="he-IL" altLang="he-IL"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613694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2" name="מחבר ישר 91">
            <a:extLst>
              <a:ext uri="{FF2B5EF4-FFF2-40B4-BE49-F238E27FC236}">
                <a16:creationId xmlns:a16="http://schemas.microsoft.com/office/drawing/2014/main" id="{FA15F4D3-F0DD-7DDD-3B58-467AC1E4CA43}"/>
              </a:ext>
            </a:extLst>
          </p:cNvPr>
          <p:cNvCxnSpPr>
            <a:endCxn id="68" idx="4"/>
          </p:cNvCxnSpPr>
          <p:nvPr/>
        </p:nvCxnSpPr>
        <p:spPr>
          <a:xfrm flipV="1">
            <a:off x="7137894" y="2022444"/>
            <a:ext cx="2049420" cy="17994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אליפסה 76">
            <a:extLst>
              <a:ext uri="{FF2B5EF4-FFF2-40B4-BE49-F238E27FC236}">
                <a16:creationId xmlns:a16="http://schemas.microsoft.com/office/drawing/2014/main" id="{B420E115-EBE8-E3BB-B2DD-BD76503637CA}"/>
              </a:ext>
            </a:extLst>
          </p:cNvPr>
          <p:cNvSpPr/>
          <p:nvPr/>
        </p:nvSpPr>
        <p:spPr>
          <a:xfrm>
            <a:off x="7463750" y="1758053"/>
            <a:ext cx="1558622" cy="723573"/>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P_Phone</a:t>
            </a:r>
            <a:endParaRPr lang="he-IL" dirty="0">
              <a:solidFill>
                <a:schemeClr val="tx1"/>
              </a:solidFill>
            </a:endParaRPr>
          </a:p>
        </p:txBody>
      </p:sp>
      <p:sp>
        <p:nvSpPr>
          <p:cNvPr id="78" name="אליפסה 77">
            <a:extLst>
              <a:ext uri="{FF2B5EF4-FFF2-40B4-BE49-F238E27FC236}">
                <a16:creationId xmlns:a16="http://schemas.microsoft.com/office/drawing/2014/main" id="{2349DCCB-78AE-05C6-9EF8-BA0A81C4C088}"/>
              </a:ext>
            </a:extLst>
          </p:cNvPr>
          <p:cNvSpPr/>
          <p:nvPr/>
        </p:nvSpPr>
        <p:spPr>
          <a:xfrm>
            <a:off x="7253095" y="293767"/>
            <a:ext cx="1891188" cy="714965"/>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l"/>
            <a:r>
              <a:rPr lang="en-US" dirty="0" err="1">
                <a:solidFill>
                  <a:schemeClr val="tx1"/>
                </a:solidFill>
                <a:latin typeface="Consolas" panose="020B0609020204030204" pitchFamily="49" charset="0"/>
              </a:rPr>
              <a:t>P_Address</a:t>
            </a:r>
            <a:endParaRPr lang="he-IL" dirty="0">
              <a:solidFill>
                <a:schemeClr val="tx1"/>
              </a:solidFill>
            </a:endParaRPr>
          </a:p>
        </p:txBody>
      </p:sp>
      <p:sp>
        <p:nvSpPr>
          <p:cNvPr id="29" name="אליפסה 28">
            <a:extLst>
              <a:ext uri="{FF2B5EF4-FFF2-40B4-BE49-F238E27FC236}">
                <a16:creationId xmlns:a16="http://schemas.microsoft.com/office/drawing/2014/main" id="{D5D1762B-05C0-5EB2-735D-6E09DEB3441E}"/>
              </a:ext>
            </a:extLst>
          </p:cNvPr>
          <p:cNvSpPr/>
          <p:nvPr/>
        </p:nvSpPr>
        <p:spPr>
          <a:xfrm>
            <a:off x="1082239" y="1784296"/>
            <a:ext cx="1883576" cy="743113"/>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rPr>
              <a:t>NursesCode</a:t>
            </a:r>
            <a:endParaRPr lang="he-IL" dirty="0">
              <a:solidFill>
                <a:schemeClr val="tx1"/>
              </a:solidFill>
            </a:endParaRPr>
          </a:p>
        </p:txBody>
      </p:sp>
      <p:sp>
        <p:nvSpPr>
          <p:cNvPr id="30" name="אליפסה 29">
            <a:extLst>
              <a:ext uri="{FF2B5EF4-FFF2-40B4-BE49-F238E27FC236}">
                <a16:creationId xmlns:a16="http://schemas.microsoft.com/office/drawing/2014/main" id="{45F15BD7-5D68-F26A-2269-70BE2BF01A55}"/>
              </a:ext>
            </a:extLst>
          </p:cNvPr>
          <p:cNvSpPr/>
          <p:nvPr/>
        </p:nvSpPr>
        <p:spPr>
          <a:xfrm>
            <a:off x="2010005" y="401423"/>
            <a:ext cx="1614094" cy="702241"/>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rPr>
              <a:t>CostRoom</a:t>
            </a:r>
            <a:endParaRPr lang="he-IL" dirty="0">
              <a:solidFill>
                <a:schemeClr val="tx1"/>
              </a:solidFill>
            </a:endParaRPr>
          </a:p>
        </p:txBody>
      </p:sp>
      <p:sp>
        <p:nvSpPr>
          <p:cNvPr id="31" name="אליפסה 30">
            <a:extLst>
              <a:ext uri="{FF2B5EF4-FFF2-40B4-BE49-F238E27FC236}">
                <a16:creationId xmlns:a16="http://schemas.microsoft.com/office/drawing/2014/main" id="{03C8EB23-A48F-02C4-F2C0-90195B8192D3}"/>
              </a:ext>
            </a:extLst>
          </p:cNvPr>
          <p:cNvSpPr/>
          <p:nvPr/>
        </p:nvSpPr>
        <p:spPr>
          <a:xfrm>
            <a:off x="3645249" y="588068"/>
            <a:ext cx="992894" cy="660919"/>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rPr>
              <a:t>vip</a:t>
            </a:r>
            <a:endParaRPr lang="he-IL" dirty="0">
              <a:solidFill>
                <a:schemeClr val="tx1"/>
              </a:solidFill>
            </a:endParaRPr>
          </a:p>
        </p:txBody>
      </p:sp>
      <p:sp>
        <p:nvSpPr>
          <p:cNvPr id="42" name="אליפסה 41">
            <a:extLst>
              <a:ext uri="{FF2B5EF4-FFF2-40B4-BE49-F238E27FC236}">
                <a16:creationId xmlns:a16="http://schemas.microsoft.com/office/drawing/2014/main" id="{D3B913DF-E048-5AAA-83C4-E45A081BA71A}"/>
              </a:ext>
            </a:extLst>
          </p:cNvPr>
          <p:cNvSpPr/>
          <p:nvPr/>
        </p:nvSpPr>
        <p:spPr>
          <a:xfrm>
            <a:off x="68534" y="4814953"/>
            <a:ext cx="1516602" cy="606779"/>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rPr>
              <a:t>ExitHour</a:t>
            </a:r>
            <a:endParaRPr lang="he-IL" dirty="0">
              <a:solidFill>
                <a:schemeClr val="tx1"/>
              </a:solidFill>
            </a:endParaRPr>
          </a:p>
        </p:txBody>
      </p:sp>
      <p:sp>
        <p:nvSpPr>
          <p:cNvPr id="43" name="אליפסה 42">
            <a:extLst>
              <a:ext uri="{FF2B5EF4-FFF2-40B4-BE49-F238E27FC236}">
                <a16:creationId xmlns:a16="http://schemas.microsoft.com/office/drawing/2014/main" id="{29A2EE74-67B6-A3E6-F2D5-F9C9516568C3}"/>
              </a:ext>
            </a:extLst>
          </p:cNvPr>
          <p:cNvSpPr/>
          <p:nvPr/>
        </p:nvSpPr>
        <p:spPr>
          <a:xfrm>
            <a:off x="1838636" y="6080800"/>
            <a:ext cx="1709446" cy="606779"/>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400" dirty="0" err="1">
                <a:solidFill>
                  <a:schemeClr val="tx1"/>
                </a:solidFill>
              </a:rPr>
              <a:t>EntranceHour</a:t>
            </a:r>
            <a:endParaRPr lang="he-IL" sz="1400" dirty="0">
              <a:solidFill>
                <a:schemeClr val="tx1"/>
              </a:solidFill>
            </a:endParaRPr>
          </a:p>
        </p:txBody>
      </p:sp>
      <p:sp>
        <p:nvSpPr>
          <p:cNvPr id="44" name="אליפסה 43">
            <a:extLst>
              <a:ext uri="{FF2B5EF4-FFF2-40B4-BE49-F238E27FC236}">
                <a16:creationId xmlns:a16="http://schemas.microsoft.com/office/drawing/2014/main" id="{F2EAF579-B90C-C523-3EBB-CC6A2F14A92F}"/>
              </a:ext>
            </a:extLst>
          </p:cNvPr>
          <p:cNvSpPr/>
          <p:nvPr/>
        </p:nvSpPr>
        <p:spPr>
          <a:xfrm>
            <a:off x="2693359" y="4836609"/>
            <a:ext cx="1149154" cy="640021"/>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rPr>
              <a:t>fname</a:t>
            </a:r>
            <a:endParaRPr lang="he-IL" dirty="0">
              <a:solidFill>
                <a:schemeClr val="tx1"/>
              </a:solidFill>
            </a:endParaRPr>
          </a:p>
        </p:txBody>
      </p:sp>
      <p:sp>
        <p:nvSpPr>
          <p:cNvPr id="45" name="אליפסה 44">
            <a:extLst>
              <a:ext uri="{FF2B5EF4-FFF2-40B4-BE49-F238E27FC236}">
                <a16:creationId xmlns:a16="http://schemas.microsoft.com/office/drawing/2014/main" id="{8CD103B5-B302-4950-3B9A-0188AE8B55AA}"/>
              </a:ext>
            </a:extLst>
          </p:cNvPr>
          <p:cNvSpPr/>
          <p:nvPr/>
        </p:nvSpPr>
        <p:spPr>
          <a:xfrm>
            <a:off x="2788585" y="5447899"/>
            <a:ext cx="1149155" cy="718023"/>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rPr>
              <a:t>lname</a:t>
            </a:r>
            <a:endParaRPr lang="he-IL" dirty="0">
              <a:solidFill>
                <a:schemeClr val="tx1"/>
              </a:solidFill>
            </a:endParaRPr>
          </a:p>
        </p:txBody>
      </p:sp>
      <p:sp>
        <p:nvSpPr>
          <p:cNvPr id="46" name="אליפסה 45">
            <a:extLst>
              <a:ext uri="{FF2B5EF4-FFF2-40B4-BE49-F238E27FC236}">
                <a16:creationId xmlns:a16="http://schemas.microsoft.com/office/drawing/2014/main" id="{4A16E716-9D9B-D72F-D758-F9F9B37B19D5}"/>
              </a:ext>
            </a:extLst>
          </p:cNvPr>
          <p:cNvSpPr/>
          <p:nvPr/>
        </p:nvSpPr>
        <p:spPr>
          <a:xfrm>
            <a:off x="105835" y="5354392"/>
            <a:ext cx="879559" cy="640021"/>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rPr>
              <a:t>N_id</a:t>
            </a:r>
            <a:endParaRPr lang="he-IL" dirty="0">
              <a:solidFill>
                <a:schemeClr val="tx1"/>
              </a:solidFill>
            </a:endParaRPr>
          </a:p>
        </p:txBody>
      </p:sp>
      <p:sp>
        <p:nvSpPr>
          <p:cNvPr id="47" name="אליפסה 46">
            <a:extLst>
              <a:ext uri="{FF2B5EF4-FFF2-40B4-BE49-F238E27FC236}">
                <a16:creationId xmlns:a16="http://schemas.microsoft.com/office/drawing/2014/main" id="{49F54491-54B7-62EB-5B09-AC405C20CC46}"/>
              </a:ext>
            </a:extLst>
          </p:cNvPr>
          <p:cNvSpPr/>
          <p:nvPr/>
        </p:nvSpPr>
        <p:spPr>
          <a:xfrm>
            <a:off x="419670" y="5927113"/>
            <a:ext cx="1516602" cy="67375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400" dirty="0" err="1">
                <a:solidFill>
                  <a:schemeClr val="tx1"/>
                </a:solidFill>
              </a:rPr>
              <a:t>NursesCode</a:t>
            </a:r>
            <a:endParaRPr lang="he-IL" sz="1100" dirty="0">
              <a:solidFill>
                <a:schemeClr val="tx1"/>
              </a:solidFill>
            </a:endParaRPr>
          </a:p>
        </p:txBody>
      </p:sp>
      <p:sp>
        <p:nvSpPr>
          <p:cNvPr id="48" name="אליפסה 47">
            <a:extLst>
              <a:ext uri="{FF2B5EF4-FFF2-40B4-BE49-F238E27FC236}">
                <a16:creationId xmlns:a16="http://schemas.microsoft.com/office/drawing/2014/main" id="{7F49444B-2A6B-94D4-6D9E-15CB2AB0777F}"/>
              </a:ext>
            </a:extLst>
          </p:cNvPr>
          <p:cNvSpPr/>
          <p:nvPr/>
        </p:nvSpPr>
        <p:spPr>
          <a:xfrm>
            <a:off x="2989043" y="1948860"/>
            <a:ext cx="1883576" cy="725732"/>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rPr>
              <a:t>NumRoom</a:t>
            </a:r>
            <a:endParaRPr lang="he-IL" dirty="0">
              <a:solidFill>
                <a:schemeClr val="tx1"/>
              </a:solidFill>
            </a:endParaRPr>
          </a:p>
        </p:txBody>
      </p:sp>
      <p:sp>
        <p:nvSpPr>
          <p:cNvPr id="49" name="אליפסה 48">
            <a:extLst>
              <a:ext uri="{FF2B5EF4-FFF2-40B4-BE49-F238E27FC236}">
                <a16:creationId xmlns:a16="http://schemas.microsoft.com/office/drawing/2014/main" id="{BB0F1D7F-A8AC-465C-224F-A0EC93AFB774}"/>
              </a:ext>
            </a:extLst>
          </p:cNvPr>
          <p:cNvSpPr/>
          <p:nvPr/>
        </p:nvSpPr>
        <p:spPr>
          <a:xfrm>
            <a:off x="544773" y="952517"/>
            <a:ext cx="1883576" cy="766643"/>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rPr>
              <a:t>FloorRoom</a:t>
            </a:r>
            <a:endParaRPr lang="he-IL" dirty="0">
              <a:solidFill>
                <a:schemeClr val="tx1"/>
              </a:solidFill>
            </a:endParaRPr>
          </a:p>
        </p:txBody>
      </p:sp>
      <p:sp>
        <p:nvSpPr>
          <p:cNvPr id="51" name="אליפסה 50">
            <a:extLst>
              <a:ext uri="{FF2B5EF4-FFF2-40B4-BE49-F238E27FC236}">
                <a16:creationId xmlns:a16="http://schemas.microsoft.com/office/drawing/2014/main" id="{8279E491-4312-CD48-EE3B-39BD0019F4B7}"/>
              </a:ext>
            </a:extLst>
          </p:cNvPr>
          <p:cNvSpPr/>
          <p:nvPr/>
        </p:nvSpPr>
        <p:spPr>
          <a:xfrm>
            <a:off x="7137894" y="3821916"/>
            <a:ext cx="1017793" cy="611605"/>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DayA</a:t>
            </a:r>
            <a:endParaRPr lang="he-IL" dirty="0">
              <a:solidFill>
                <a:schemeClr val="tx1"/>
              </a:solidFill>
            </a:endParaRPr>
          </a:p>
        </p:txBody>
      </p:sp>
      <p:sp>
        <p:nvSpPr>
          <p:cNvPr id="52" name="אליפסה 51">
            <a:extLst>
              <a:ext uri="{FF2B5EF4-FFF2-40B4-BE49-F238E27FC236}">
                <a16:creationId xmlns:a16="http://schemas.microsoft.com/office/drawing/2014/main" id="{F7499F57-17BD-5A97-5EB6-77B72B1A7D64}"/>
              </a:ext>
            </a:extLst>
          </p:cNvPr>
          <p:cNvSpPr/>
          <p:nvPr/>
        </p:nvSpPr>
        <p:spPr>
          <a:xfrm>
            <a:off x="6363097" y="3020941"/>
            <a:ext cx="1170193" cy="650303"/>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typeA</a:t>
            </a:r>
            <a:endParaRPr lang="he-IL" dirty="0">
              <a:solidFill>
                <a:schemeClr val="tx1"/>
              </a:solidFill>
            </a:endParaRPr>
          </a:p>
        </p:txBody>
      </p:sp>
      <p:sp>
        <p:nvSpPr>
          <p:cNvPr id="53" name="אליפסה 52">
            <a:extLst>
              <a:ext uri="{FF2B5EF4-FFF2-40B4-BE49-F238E27FC236}">
                <a16:creationId xmlns:a16="http://schemas.microsoft.com/office/drawing/2014/main" id="{C6719B9A-A12A-4970-2BB2-5EA4287A5C3D}"/>
              </a:ext>
            </a:extLst>
          </p:cNvPr>
          <p:cNvSpPr/>
          <p:nvPr/>
        </p:nvSpPr>
        <p:spPr>
          <a:xfrm>
            <a:off x="4592775" y="2856559"/>
            <a:ext cx="1603613" cy="826816"/>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CodeAct</a:t>
            </a:r>
            <a:endParaRPr lang="he-IL" dirty="0">
              <a:solidFill>
                <a:schemeClr val="tx1"/>
              </a:solidFill>
            </a:endParaRPr>
          </a:p>
        </p:txBody>
      </p:sp>
      <p:sp>
        <p:nvSpPr>
          <p:cNvPr id="55" name="אליפסה 54">
            <a:extLst>
              <a:ext uri="{FF2B5EF4-FFF2-40B4-BE49-F238E27FC236}">
                <a16:creationId xmlns:a16="http://schemas.microsoft.com/office/drawing/2014/main" id="{AA797442-7EAF-2559-B1A2-E465B14373CD}"/>
              </a:ext>
            </a:extLst>
          </p:cNvPr>
          <p:cNvSpPr/>
          <p:nvPr/>
        </p:nvSpPr>
        <p:spPr>
          <a:xfrm>
            <a:off x="10293166" y="4545064"/>
            <a:ext cx="1341342" cy="47095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PPrice</a:t>
            </a:r>
            <a:endParaRPr lang="he-IL" dirty="0">
              <a:solidFill>
                <a:schemeClr val="tx1"/>
              </a:solidFill>
            </a:endParaRPr>
          </a:p>
        </p:txBody>
      </p:sp>
      <p:sp>
        <p:nvSpPr>
          <p:cNvPr id="56" name="אליפסה 55">
            <a:extLst>
              <a:ext uri="{FF2B5EF4-FFF2-40B4-BE49-F238E27FC236}">
                <a16:creationId xmlns:a16="http://schemas.microsoft.com/office/drawing/2014/main" id="{0E2A9A85-0517-FB70-B7D5-31E30A795F5E}"/>
              </a:ext>
            </a:extLst>
          </p:cNvPr>
          <p:cNvSpPr/>
          <p:nvPr/>
        </p:nvSpPr>
        <p:spPr>
          <a:xfrm>
            <a:off x="8155687" y="5708195"/>
            <a:ext cx="1341342" cy="555793"/>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PDate</a:t>
            </a:r>
            <a:endParaRPr lang="he-IL" dirty="0">
              <a:solidFill>
                <a:schemeClr val="tx1"/>
              </a:solidFill>
            </a:endParaRPr>
          </a:p>
        </p:txBody>
      </p:sp>
      <p:sp>
        <p:nvSpPr>
          <p:cNvPr id="57" name="אליפסה 56">
            <a:extLst>
              <a:ext uri="{FF2B5EF4-FFF2-40B4-BE49-F238E27FC236}">
                <a16:creationId xmlns:a16="http://schemas.microsoft.com/office/drawing/2014/main" id="{7BD83C23-674B-850A-EBE9-077FFE1DAB74}"/>
              </a:ext>
            </a:extLst>
          </p:cNvPr>
          <p:cNvSpPr/>
          <p:nvPr/>
        </p:nvSpPr>
        <p:spPr>
          <a:xfrm>
            <a:off x="9682563" y="5989593"/>
            <a:ext cx="1221206" cy="650303"/>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PName</a:t>
            </a:r>
            <a:endParaRPr lang="he-IL" dirty="0">
              <a:solidFill>
                <a:schemeClr val="tx1"/>
              </a:solidFill>
            </a:endParaRPr>
          </a:p>
        </p:txBody>
      </p:sp>
      <p:sp>
        <p:nvSpPr>
          <p:cNvPr id="58" name="אליפסה 57">
            <a:extLst>
              <a:ext uri="{FF2B5EF4-FFF2-40B4-BE49-F238E27FC236}">
                <a16:creationId xmlns:a16="http://schemas.microsoft.com/office/drawing/2014/main" id="{DC838C7E-B4ED-3C11-4EC9-13D736D75311}"/>
              </a:ext>
            </a:extLst>
          </p:cNvPr>
          <p:cNvSpPr/>
          <p:nvPr/>
        </p:nvSpPr>
        <p:spPr>
          <a:xfrm>
            <a:off x="10919413" y="5356459"/>
            <a:ext cx="1270804" cy="907529"/>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PCode</a:t>
            </a:r>
            <a:endParaRPr lang="he-IL" dirty="0">
              <a:solidFill>
                <a:schemeClr val="tx1"/>
              </a:solidFill>
            </a:endParaRPr>
          </a:p>
        </p:txBody>
      </p:sp>
      <p:sp>
        <p:nvSpPr>
          <p:cNvPr id="59" name="אליפסה 58">
            <a:extLst>
              <a:ext uri="{FF2B5EF4-FFF2-40B4-BE49-F238E27FC236}">
                <a16:creationId xmlns:a16="http://schemas.microsoft.com/office/drawing/2014/main" id="{A682298C-8C46-75AC-4169-5F57AAC1D8DB}"/>
              </a:ext>
            </a:extLst>
          </p:cNvPr>
          <p:cNvSpPr/>
          <p:nvPr/>
        </p:nvSpPr>
        <p:spPr>
          <a:xfrm>
            <a:off x="3833758" y="1319194"/>
            <a:ext cx="1531233" cy="612087"/>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rPr>
              <a:t>NumBed</a:t>
            </a:r>
            <a:endParaRPr lang="he-IL" dirty="0">
              <a:solidFill>
                <a:schemeClr val="tx1"/>
              </a:solidFill>
            </a:endParaRPr>
          </a:p>
        </p:txBody>
      </p:sp>
      <p:sp>
        <p:nvSpPr>
          <p:cNvPr id="62" name="אליפסה 61">
            <a:extLst>
              <a:ext uri="{FF2B5EF4-FFF2-40B4-BE49-F238E27FC236}">
                <a16:creationId xmlns:a16="http://schemas.microsoft.com/office/drawing/2014/main" id="{43F4C5BD-9525-8A4E-5770-D4DF719F54B8}"/>
              </a:ext>
            </a:extLst>
          </p:cNvPr>
          <p:cNvSpPr/>
          <p:nvPr/>
        </p:nvSpPr>
        <p:spPr>
          <a:xfrm>
            <a:off x="6300945" y="4433521"/>
            <a:ext cx="1612582" cy="623834"/>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HourAct</a:t>
            </a:r>
            <a:endParaRPr lang="he-IL" dirty="0">
              <a:solidFill>
                <a:schemeClr val="tx1"/>
              </a:solidFill>
            </a:endParaRPr>
          </a:p>
        </p:txBody>
      </p:sp>
      <p:sp>
        <p:nvSpPr>
          <p:cNvPr id="63" name="אליפסה 62">
            <a:extLst>
              <a:ext uri="{FF2B5EF4-FFF2-40B4-BE49-F238E27FC236}">
                <a16:creationId xmlns:a16="http://schemas.microsoft.com/office/drawing/2014/main" id="{13F783C5-7690-AD14-5AB1-95D4A40FED7E}"/>
              </a:ext>
            </a:extLst>
          </p:cNvPr>
          <p:cNvSpPr/>
          <p:nvPr/>
        </p:nvSpPr>
        <p:spPr>
          <a:xfrm>
            <a:off x="3855843" y="3690094"/>
            <a:ext cx="1402599" cy="611605"/>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CountP</a:t>
            </a:r>
            <a:endParaRPr lang="he-IL" dirty="0">
              <a:solidFill>
                <a:schemeClr val="tx1"/>
              </a:solidFill>
            </a:endParaRPr>
          </a:p>
        </p:txBody>
      </p:sp>
      <p:sp>
        <p:nvSpPr>
          <p:cNvPr id="64" name="אליפסה 63">
            <a:extLst>
              <a:ext uri="{FF2B5EF4-FFF2-40B4-BE49-F238E27FC236}">
                <a16:creationId xmlns:a16="http://schemas.microsoft.com/office/drawing/2014/main" id="{28B959C0-3624-DC08-F3A9-213FBC201195}"/>
              </a:ext>
            </a:extLst>
          </p:cNvPr>
          <p:cNvSpPr/>
          <p:nvPr/>
        </p:nvSpPr>
        <p:spPr>
          <a:xfrm>
            <a:off x="10093933" y="1127211"/>
            <a:ext cx="1984506" cy="70308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solidFill>
                  <a:schemeClr val="tx1"/>
                </a:solidFill>
                <a:latin typeface="Consolas" panose="020B0609020204030204" pitchFamily="49" charset="0"/>
              </a:rPr>
              <a:t>Birthdate</a:t>
            </a:r>
            <a:endParaRPr lang="he-IL" dirty="0">
              <a:solidFill>
                <a:schemeClr val="tx1"/>
              </a:solidFill>
            </a:endParaRPr>
          </a:p>
        </p:txBody>
      </p:sp>
      <p:sp>
        <p:nvSpPr>
          <p:cNvPr id="65" name="אליפסה 64">
            <a:extLst>
              <a:ext uri="{FF2B5EF4-FFF2-40B4-BE49-F238E27FC236}">
                <a16:creationId xmlns:a16="http://schemas.microsoft.com/office/drawing/2014/main" id="{FD8DDFAE-614C-8E77-1AAD-5AAD1622124B}"/>
              </a:ext>
            </a:extLst>
          </p:cNvPr>
          <p:cNvSpPr/>
          <p:nvPr/>
        </p:nvSpPr>
        <p:spPr>
          <a:xfrm>
            <a:off x="9749220" y="1792870"/>
            <a:ext cx="1170193" cy="636423"/>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Lname</a:t>
            </a:r>
            <a:endParaRPr lang="he-IL" dirty="0">
              <a:solidFill>
                <a:schemeClr val="tx1"/>
              </a:solidFill>
            </a:endParaRPr>
          </a:p>
        </p:txBody>
      </p:sp>
      <p:sp>
        <p:nvSpPr>
          <p:cNvPr id="69" name="אליפסה 68">
            <a:extLst>
              <a:ext uri="{FF2B5EF4-FFF2-40B4-BE49-F238E27FC236}">
                <a16:creationId xmlns:a16="http://schemas.microsoft.com/office/drawing/2014/main" id="{4E4EBC0E-5264-15EC-10C6-ACEE2C3BAADE}"/>
              </a:ext>
            </a:extLst>
          </p:cNvPr>
          <p:cNvSpPr/>
          <p:nvPr/>
        </p:nvSpPr>
        <p:spPr>
          <a:xfrm>
            <a:off x="4348990" y="4453560"/>
            <a:ext cx="1880561" cy="907529"/>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DurationOfActivity</a:t>
            </a:r>
            <a:endParaRPr lang="he-IL" dirty="0">
              <a:solidFill>
                <a:schemeClr val="tx1"/>
              </a:solidFill>
            </a:endParaRPr>
          </a:p>
        </p:txBody>
      </p:sp>
      <p:sp>
        <p:nvSpPr>
          <p:cNvPr id="76" name="אליפסה 75">
            <a:extLst>
              <a:ext uri="{FF2B5EF4-FFF2-40B4-BE49-F238E27FC236}">
                <a16:creationId xmlns:a16="http://schemas.microsoft.com/office/drawing/2014/main" id="{49EA08EC-01B0-2D22-2C91-3C2AB350272A}"/>
              </a:ext>
            </a:extLst>
          </p:cNvPr>
          <p:cNvSpPr/>
          <p:nvPr/>
        </p:nvSpPr>
        <p:spPr>
          <a:xfrm>
            <a:off x="6615180" y="1319805"/>
            <a:ext cx="1506163" cy="640021"/>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ActCode</a:t>
            </a:r>
            <a:endParaRPr lang="he-IL" dirty="0">
              <a:solidFill>
                <a:schemeClr val="tx1"/>
              </a:solidFill>
            </a:endParaRPr>
          </a:p>
        </p:txBody>
      </p:sp>
      <p:sp>
        <p:nvSpPr>
          <p:cNvPr id="79" name="אליפסה 78">
            <a:extLst>
              <a:ext uri="{FF2B5EF4-FFF2-40B4-BE49-F238E27FC236}">
                <a16:creationId xmlns:a16="http://schemas.microsoft.com/office/drawing/2014/main" id="{6C8958C5-CC31-29AC-C43E-F2A9EA0E7931}"/>
              </a:ext>
            </a:extLst>
          </p:cNvPr>
          <p:cNvSpPr/>
          <p:nvPr/>
        </p:nvSpPr>
        <p:spPr>
          <a:xfrm>
            <a:off x="9682563" y="385864"/>
            <a:ext cx="1516603" cy="880721"/>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ProductCode</a:t>
            </a:r>
            <a:endParaRPr lang="he-IL" dirty="0">
              <a:solidFill>
                <a:schemeClr val="tx1"/>
              </a:solidFill>
            </a:endParaRPr>
          </a:p>
        </p:txBody>
      </p:sp>
      <p:sp>
        <p:nvSpPr>
          <p:cNvPr id="67" name="אליפסה 66">
            <a:extLst>
              <a:ext uri="{FF2B5EF4-FFF2-40B4-BE49-F238E27FC236}">
                <a16:creationId xmlns:a16="http://schemas.microsoft.com/office/drawing/2014/main" id="{F973AE98-6112-2391-592E-91D0CB2EBC76}"/>
              </a:ext>
            </a:extLst>
          </p:cNvPr>
          <p:cNvSpPr/>
          <p:nvPr/>
        </p:nvSpPr>
        <p:spPr>
          <a:xfrm>
            <a:off x="10700498" y="1735171"/>
            <a:ext cx="1196062" cy="501556"/>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P_Id</a:t>
            </a:r>
            <a:endParaRPr lang="he-IL" dirty="0">
              <a:solidFill>
                <a:schemeClr val="tx1"/>
              </a:solidFill>
            </a:endParaRPr>
          </a:p>
        </p:txBody>
      </p:sp>
      <p:sp>
        <p:nvSpPr>
          <p:cNvPr id="66" name="אליפסה 65">
            <a:extLst>
              <a:ext uri="{FF2B5EF4-FFF2-40B4-BE49-F238E27FC236}">
                <a16:creationId xmlns:a16="http://schemas.microsoft.com/office/drawing/2014/main" id="{7E9399E5-82ED-4F7B-A3CE-FFAA8D432997}"/>
              </a:ext>
            </a:extLst>
          </p:cNvPr>
          <p:cNvSpPr/>
          <p:nvPr/>
        </p:nvSpPr>
        <p:spPr>
          <a:xfrm>
            <a:off x="7052806" y="806271"/>
            <a:ext cx="1232920" cy="501556"/>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Fname</a:t>
            </a:r>
            <a:endParaRPr lang="he-IL" dirty="0">
              <a:solidFill>
                <a:schemeClr val="tx1"/>
              </a:solidFill>
            </a:endParaRPr>
          </a:p>
        </p:txBody>
      </p:sp>
      <p:sp>
        <p:nvSpPr>
          <p:cNvPr id="75" name="אליפסה 74">
            <a:extLst>
              <a:ext uri="{FF2B5EF4-FFF2-40B4-BE49-F238E27FC236}">
                <a16:creationId xmlns:a16="http://schemas.microsoft.com/office/drawing/2014/main" id="{71235088-9B1A-804E-A368-471352439BDD}"/>
              </a:ext>
            </a:extLst>
          </p:cNvPr>
          <p:cNvSpPr/>
          <p:nvPr/>
        </p:nvSpPr>
        <p:spPr>
          <a:xfrm>
            <a:off x="8761395" y="218104"/>
            <a:ext cx="1506163" cy="471460"/>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PayMent</a:t>
            </a:r>
            <a:endParaRPr lang="he-IL" dirty="0">
              <a:solidFill>
                <a:schemeClr val="tx1"/>
              </a:solidFill>
            </a:endParaRPr>
          </a:p>
        </p:txBody>
      </p:sp>
      <p:sp>
        <p:nvSpPr>
          <p:cNvPr id="68" name="אליפסה 67">
            <a:extLst>
              <a:ext uri="{FF2B5EF4-FFF2-40B4-BE49-F238E27FC236}">
                <a16:creationId xmlns:a16="http://schemas.microsoft.com/office/drawing/2014/main" id="{F220B7F4-8268-05B4-EDF0-90149546A8DE}"/>
              </a:ext>
            </a:extLst>
          </p:cNvPr>
          <p:cNvSpPr/>
          <p:nvPr/>
        </p:nvSpPr>
        <p:spPr>
          <a:xfrm>
            <a:off x="8095822" y="846246"/>
            <a:ext cx="2182983" cy="1176198"/>
          </a:xfrm>
          <a:prstGeom prst="ellipse">
            <a:avLst/>
          </a:prstGeom>
          <a:solidFill>
            <a:schemeClr val="bg1">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2400" b="1" dirty="0">
                <a:solidFill>
                  <a:schemeClr val="tx1"/>
                </a:solidFill>
                <a:latin typeface="Consolas" panose="020B0609020204030204" pitchFamily="49" charset="0"/>
              </a:rPr>
              <a:t>Patients</a:t>
            </a:r>
            <a:endParaRPr lang="he-IL" b="1" dirty="0">
              <a:solidFill>
                <a:schemeClr val="tx1"/>
              </a:solidFill>
            </a:endParaRPr>
          </a:p>
        </p:txBody>
      </p:sp>
      <p:sp>
        <p:nvSpPr>
          <p:cNvPr id="37" name="אליפסה 36">
            <a:extLst>
              <a:ext uri="{FF2B5EF4-FFF2-40B4-BE49-F238E27FC236}">
                <a16:creationId xmlns:a16="http://schemas.microsoft.com/office/drawing/2014/main" id="{84B35B5D-901E-8E67-01B3-EF4EF951BBCE}"/>
              </a:ext>
            </a:extLst>
          </p:cNvPr>
          <p:cNvSpPr/>
          <p:nvPr/>
        </p:nvSpPr>
        <p:spPr>
          <a:xfrm>
            <a:off x="2024027" y="1048459"/>
            <a:ext cx="2112405" cy="1058779"/>
          </a:xfrm>
          <a:prstGeom prst="ellipse">
            <a:avLst/>
          </a:prstGeom>
          <a:solidFill>
            <a:schemeClr val="bg1">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3200" b="1" dirty="0">
                <a:solidFill>
                  <a:schemeClr val="tx1"/>
                </a:solidFill>
              </a:rPr>
              <a:t>Rooms</a:t>
            </a:r>
            <a:endParaRPr lang="he-IL" sz="3200" b="1" dirty="0">
              <a:solidFill>
                <a:schemeClr val="tx1"/>
              </a:solidFill>
            </a:endParaRPr>
          </a:p>
        </p:txBody>
      </p:sp>
      <p:sp>
        <p:nvSpPr>
          <p:cNvPr id="3" name="אליפסה 2">
            <a:extLst>
              <a:ext uri="{FF2B5EF4-FFF2-40B4-BE49-F238E27FC236}">
                <a16:creationId xmlns:a16="http://schemas.microsoft.com/office/drawing/2014/main" id="{1B2F4AE9-E2C9-BC61-612C-246547D96C51}"/>
              </a:ext>
            </a:extLst>
          </p:cNvPr>
          <p:cNvSpPr/>
          <p:nvPr/>
        </p:nvSpPr>
        <p:spPr>
          <a:xfrm>
            <a:off x="958148" y="5084817"/>
            <a:ext cx="2032052" cy="1051165"/>
          </a:xfrm>
          <a:prstGeom prst="ellipse">
            <a:avLst/>
          </a:prstGeom>
          <a:solidFill>
            <a:schemeClr val="bg1">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3200" b="1" dirty="0">
                <a:solidFill>
                  <a:schemeClr val="tx1"/>
                </a:solidFill>
              </a:rPr>
              <a:t>Nurses</a:t>
            </a:r>
            <a:endParaRPr lang="he-IL" b="1" dirty="0">
              <a:solidFill>
                <a:schemeClr val="tx1"/>
              </a:solidFill>
            </a:endParaRPr>
          </a:p>
        </p:txBody>
      </p:sp>
      <p:grpSp>
        <p:nvGrpSpPr>
          <p:cNvPr id="82" name="קבוצה 81">
            <a:extLst>
              <a:ext uri="{FF2B5EF4-FFF2-40B4-BE49-F238E27FC236}">
                <a16:creationId xmlns:a16="http://schemas.microsoft.com/office/drawing/2014/main" id="{8830B92E-C593-AFF1-8C21-E99D442C7E58}"/>
              </a:ext>
            </a:extLst>
          </p:cNvPr>
          <p:cNvGrpSpPr/>
          <p:nvPr/>
        </p:nvGrpSpPr>
        <p:grpSpPr>
          <a:xfrm>
            <a:off x="4881362" y="3525538"/>
            <a:ext cx="2548594" cy="1121540"/>
            <a:chOff x="4642004" y="3295564"/>
            <a:chExt cx="1774816" cy="708947"/>
          </a:xfrm>
        </p:grpSpPr>
        <p:sp>
          <p:nvSpPr>
            <p:cNvPr id="70" name="אליפסה 69">
              <a:extLst>
                <a:ext uri="{FF2B5EF4-FFF2-40B4-BE49-F238E27FC236}">
                  <a16:creationId xmlns:a16="http://schemas.microsoft.com/office/drawing/2014/main" id="{62D4A6B1-FFE9-709E-6714-72FD02A5E8AC}"/>
                </a:ext>
              </a:extLst>
            </p:cNvPr>
            <p:cNvSpPr/>
            <p:nvPr/>
          </p:nvSpPr>
          <p:spPr>
            <a:xfrm>
              <a:off x="4642004" y="3295564"/>
              <a:ext cx="1590261" cy="708947"/>
            </a:xfrm>
            <a:prstGeom prst="ellipse">
              <a:avLst/>
            </a:prstGeom>
            <a:solidFill>
              <a:schemeClr val="bg1">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sz="2400" dirty="0">
                <a:solidFill>
                  <a:schemeClr val="tx1"/>
                </a:solidFill>
              </a:endParaRPr>
            </a:p>
          </p:txBody>
        </p:sp>
        <p:sp>
          <p:nvSpPr>
            <p:cNvPr id="81" name="תיבת טקסט 80">
              <a:extLst>
                <a:ext uri="{FF2B5EF4-FFF2-40B4-BE49-F238E27FC236}">
                  <a16:creationId xmlns:a16="http://schemas.microsoft.com/office/drawing/2014/main" id="{60824286-78B5-8FDE-467E-C33AAF283250}"/>
                </a:ext>
              </a:extLst>
            </p:cNvPr>
            <p:cNvSpPr txBox="1"/>
            <p:nvPr/>
          </p:nvSpPr>
          <p:spPr>
            <a:xfrm>
              <a:off x="4814499" y="3497452"/>
              <a:ext cx="1602321" cy="291827"/>
            </a:xfrm>
            <a:prstGeom prst="rect">
              <a:avLst/>
            </a:prstGeom>
            <a:noFill/>
            <a:ln w="28575">
              <a:noFill/>
            </a:ln>
          </p:spPr>
          <p:txBody>
            <a:bodyPr wrap="square">
              <a:spAutoFit/>
            </a:bodyPr>
            <a:lstStyle/>
            <a:p>
              <a:r>
                <a:rPr lang="en-US" sz="2400" b="1" dirty="0">
                  <a:solidFill>
                    <a:schemeClr val="tx1"/>
                  </a:solidFill>
                  <a:latin typeface="Consolas" panose="020B0609020204030204" pitchFamily="49" charset="0"/>
                </a:rPr>
                <a:t>Activities</a:t>
              </a:r>
              <a:endParaRPr lang="he-IL" b="1" dirty="0"/>
            </a:p>
          </p:txBody>
        </p:sp>
      </p:grpSp>
      <p:sp>
        <p:nvSpPr>
          <p:cNvPr id="4" name="אליפסה 3">
            <a:extLst>
              <a:ext uri="{FF2B5EF4-FFF2-40B4-BE49-F238E27FC236}">
                <a16:creationId xmlns:a16="http://schemas.microsoft.com/office/drawing/2014/main" id="{DA53AA88-D5D9-0836-98F9-95A69D9CC675}"/>
              </a:ext>
            </a:extLst>
          </p:cNvPr>
          <p:cNvSpPr/>
          <p:nvPr/>
        </p:nvSpPr>
        <p:spPr>
          <a:xfrm>
            <a:off x="9018127" y="4870586"/>
            <a:ext cx="2215725" cy="1225939"/>
          </a:xfrm>
          <a:prstGeom prst="ellipse">
            <a:avLst/>
          </a:prstGeom>
          <a:solidFill>
            <a:schemeClr val="bg1">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2400" b="1" dirty="0">
                <a:solidFill>
                  <a:schemeClr val="tx1"/>
                </a:solidFill>
              </a:rPr>
              <a:t>Equipment</a:t>
            </a:r>
            <a:endParaRPr lang="he-IL" b="1" dirty="0">
              <a:solidFill>
                <a:schemeClr val="tx1"/>
              </a:solidFill>
            </a:endParaRPr>
          </a:p>
        </p:txBody>
      </p:sp>
      <p:sp>
        <p:nvSpPr>
          <p:cNvPr id="54" name="אליפסה 53">
            <a:extLst>
              <a:ext uri="{FF2B5EF4-FFF2-40B4-BE49-F238E27FC236}">
                <a16:creationId xmlns:a16="http://schemas.microsoft.com/office/drawing/2014/main" id="{D14CBF67-5522-8DD9-B0A2-33431A4D056D}"/>
              </a:ext>
            </a:extLst>
          </p:cNvPr>
          <p:cNvSpPr/>
          <p:nvPr/>
        </p:nvSpPr>
        <p:spPr>
          <a:xfrm>
            <a:off x="8198689" y="4419553"/>
            <a:ext cx="1976395" cy="889149"/>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2000" dirty="0" err="1">
                <a:solidFill>
                  <a:schemeClr val="tx1"/>
                </a:solidFill>
                <a:latin typeface="Consolas" panose="020B0609020204030204" pitchFamily="49" charset="0"/>
              </a:rPr>
              <a:t>CountAvailabil</a:t>
            </a:r>
            <a:endParaRPr lang="he-IL" sz="2000" dirty="0">
              <a:solidFill>
                <a:schemeClr val="tx1"/>
              </a:solidFill>
            </a:endParaRPr>
          </a:p>
        </p:txBody>
      </p:sp>
      <p:cxnSp>
        <p:nvCxnSpPr>
          <p:cNvPr id="85" name="מחבר ישר 84">
            <a:extLst>
              <a:ext uri="{FF2B5EF4-FFF2-40B4-BE49-F238E27FC236}">
                <a16:creationId xmlns:a16="http://schemas.microsoft.com/office/drawing/2014/main" id="{EE498BFE-D28C-F024-8DFB-19ED0AB51B70}"/>
              </a:ext>
            </a:extLst>
          </p:cNvPr>
          <p:cNvCxnSpPr>
            <a:cxnSpLocks/>
          </p:cNvCxnSpPr>
          <p:nvPr/>
        </p:nvCxnSpPr>
        <p:spPr>
          <a:xfrm flipV="1">
            <a:off x="3932318" y="1272066"/>
            <a:ext cx="4186002" cy="1664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89" name="יהלום 88">
            <a:extLst>
              <a:ext uri="{FF2B5EF4-FFF2-40B4-BE49-F238E27FC236}">
                <a16:creationId xmlns:a16="http://schemas.microsoft.com/office/drawing/2014/main" id="{28147CCE-32AC-4EE8-0574-9DB57BF29B51}"/>
              </a:ext>
            </a:extLst>
          </p:cNvPr>
          <p:cNvSpPr/>
          <p:nvPr/>
        </p:nvSpPr>
        <p:spPr>
          <a:xfrm>
            <a:off x="7698597" y="2734005"/>
            <a:ext cx="763066" cy="612087"/>
          </a:xfrm>
          <a:prstGeom prst="diamond">
            <a:avLst/>
          </a:prstGeom>
          <a:solidFill>
            <a:schemeClr val="bg2">
              <a:lumMod val="5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2</a:t>
            </a:r>
          </a:p>
        </p:txBody>
      </p:sp>
      <p:sp>
        <p:nvSpPr>
          <p:cNvPr id="90" name="יהלום 89">
            <a:extLst>
              <a:ext uri="{FF2B5EF4-FFF2-40B4-BE49-F238E27FC236}">
                <a16:creationId xmlns:a16="http://schemas.microsoft.com/office/drawing/2014/main" id="{DC2FAF76-065D-C13F-B457-E4F728913CEC}"/>
              </a:ext>
            </a:extLst>
          </p:cNvPr>
          <p:cNvSpPr/>
          <p:nvPr/>
        </p:nvSpPr>
        <p:spPr>
          <a:xfrm>
            <a:off x="5807121" y="1020522"/>
            <a:ext cx="763066" cy="612087"/>
          </a:xfrm>
          <a:prstGeom prst="diamond">
            <a:avLst/>
          </a:prstGeom>
          <a:solidFill>
            <a:schemeClr val="bg2">
              <a:lumMod val="5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1</a:t>
            </a:r>
          </a:p>
        </p:txBody>
      </p:sp>
      <p:cxnSp>
        <p:nvCxnSpPr>
          <p:cNvPr id="94" name="מחבר ישר 93">
            <a:extLst>
              <a:ext uri="{FF2B5EF4-FFF2-40B4-BE49-F238E27FC236}">
                <a16:creationId xmlns:a16="http://schemas.microsoft.com/office/drawing/2014/main" id="{0D1D6D98-318F-D4C6-B4E7-C1A303326C83}"/>
              </a:ext>
            </a:extLst>
          </p:cNvPr>
          <p:cNvCxnSpPr>
            <a:cxnSpLocks/>
          </p:cNvCxnSpPr>
          <p:nvPr/>
        </p:nvCxnSpPr>
        <p:spPr>
          <a:xfrm flipH="1">
            <a:off x="1626737" y="2172374"/>
            <a:ext cx="1397481" cy="291244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יהלום 87">
            <a:extLst>
              <a:ext uri="{FF2B5EF4-FFF2-40B4-BE49-F238E27FC236}">
                <a16:creationId xmlns:a16="http://schemas.microsoft.com/office/drawing/2014/main" id="{73323B21-4AA5-186B-B8D0-4FF713CEBEC2}"/>
              </a:ext>
            </a:extLst>
          </p:cNvPr>
          <p:cNvSpPr/>
          <p:nvPr/>
        </p:nvSpPr>
        <p:spPr>
          <a:xfrm>
            <a:off x="2080985" y="3228244"/>
            <a:ext cx="763066" cy="612087"/>
          </a:xfrm>
          <a:prstGeom prst="diamond">
            <a:avLst/>
          </a:prstGeom>
          <a:solidFill>
            <a:schemeClr val="bg2">
              <a:lumMod val="5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4</a:t>
            </a:r>
          </a:p>
        </p:txBody>
      </p:sp>
      <p:cxnSp>
        <p:nvCxnSpPr>
          <p:cNvPr id="98" name="מחבר ישר 97">
            <a:extLst>
              <a:ext uri="{FF2B5EF4-FFF2-40B4-BE49-F238E27FC236}">
                <a16:creationId xmlns:a16="http://schemas.microsoft.com/office/drawing/2014/main" id="{53B94EA5-F62D-945B-F3DB-90AAC22FEB4C}"/>
              </a:ext>
            </a:extLst>
          </p:cNvPr>
          <p:cNvCxnSpPr>
            <a:endCxn id="54" idx="6"/>
          </p:cNvCxnSpPr>
          <p:nvPr/>
        </p:nvCxnSpPr>
        <p:spPr>
          <a:xfrm>
            <a:off x="9749220" y="1948860"/>
            <a:ext cx="425864" cy="291526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יהלום 86">
            <a:extLst>
              <a:ext uri="{FF2B5EF4-FFF2-40B4-BE49-F238E27FC236}">
                <a16:creationId xmlns:a16="http://schemas.microsoft.com/office/drawing/2014/main" id="{3FE5220C-5DD0-A6BE-C99B-8DBB9DF27AEF}"/>
              </a:ext>
            </a:extLst>
          </p:cNvPr>
          <p:cNvSpPr/>
          <p:nvPr/>
        </p:nvSpPr>
        <p:spPr>
          <a:xfrm>
            <a:off x="9606432" y="3397453"/>
            <a:ext cx="763066" cy="612087"/>
          </a:xfrm>
          <a:prstGeom prst="diamond">
            <a:avLst/>
          </a:prstGeom>
          <a:solidFill>
            <a:schemeClr val="bg2">
              <a:lumMod val="5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3</a:t>
            </a:r>
          </a:p>
        </p:txBody>
      </p:sp>
      <p:sp>
        <p:nvSpPr>
          <p:cNvPr id="41" name="אליפסה 40">
            <a:extLst>
              <a:ext uri="{FF2B5EF4-FFF2-40B4-BE49-F238E27FC236}">
                <a16:creationId xmlns:a16="http://schemas.microsoft.com/office/drawing/2014/main" id="{55C18DF7-E36C-34BC-8917-19BFF563F071}"/>
              </a:ext>
            </a:extLst>
          </p:cNvPr>
          <p:cNvSpPr/>
          <p:nvPr/>
        </p:nvSpPr>
        <p:spPr>
          <a:xfrm>
            <a:off x="1321855" y="4557299"/>
            <a:ext cx="1709446" cy="569743"/>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rPr>
              <a:t>NumRoom</a:t>
            </a:r>
            <a:endParaRPr lang="he-IL" dirty="0">
              <a:solidFill>
                <a:schemeClr val="tx1"/>
              </a:solidFill>
            </a:endParaRPr>
          </a:p>
        </p:txBody>
      </p:sp>
      <p:sp>
        <p:nvSpPr>
          <p:cNvPr id="50" name="אליפסה 49">
            <a:extLst>
              <a:ext uri="{FF2B5EF4-FFF2-40B4-BE49-F238E27FC236}">
                <a16:creationId xmlns:a16="http://schemas.microsoft.com/office/drawing/2014/main" id="{8128F302-2AEC-77FC-B020-49C06793A9CE}"/>
              </a:ext>
            </a:extLst>
          </p:cNvPr>
          <p:cNvSpPr/>
          <p:nvPr/>
        </p:nvSpPr>
        <p:spPr>
          <a:xfrm>
            <a:off x="8690453" y="2083012"/>
            <a:ext cx="1516602" cy="640021"/>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err="1">
                <a:solidFill>
                  <a:schemeClr val="tx1"/>
                </a:solidFill>
                <a:latin typeface="Consolas" panose="020B0609020204030204" pitchFamily="49" charset="0"/>
              </a:rPr>
              <a:t>NumRoom</a:t>
            </a:r>
            <a:endParaRPr lang="he-IL" dirty="0">
              <a:solidFill>
                <a:schemeClr val="tx1"/>
              </a:solidFill>
            </a:endParaRPr>
          </a:p>
        </p:txBody>
      </p:sp>
    </p:spTree>
    <p:extLst>
      <p:ext uri="{BB962C8B-B14F-4D97-AF65-F5344CB8AC3E}">
        <p14:creationId xmlns:p14="http://schemas.microsoft.com/office/powerpoint/2010/main" val="858366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C8BA15DD-8CAF-94BD-D11A-E3328B32CD73}"/>
              </a:ext>
            </a:extLst>
          </p:cNvPr>
          <p:cNvSpPr txBox="1"/>
          <p:nvPr/>
        </p:nvSpPr>
        <p:spPr>
          <a:xfrm>
            <a:off x="-1250302" y="1514721"/>
            <a:ext cx="13272089" cy="2677656"/>
          </a:xfrm>
          <a:prstGeom prst="rect">
            <a:avLst/>
          </a:prstGeom>
          <a:noFill/>
        </p:spPr>
        <p:txBody>
          <a:bodyPr wrap="square" rtlCol="1">
            <a:spAutoFit/>
          </a:bodyPr>
          <a:lstStyle/>
          <a:p>
            <a:pPr lvl="8" algn="r"/>
            <a:r>
              <a:rPr lang="he-IL" altLang="he-IL" sz="2400" b="1" dirty="0">
                <a:latin typeface="Arial" panose="020B0604020202020204" pitchFamily="34" charset="0"/>
              </a:rPr>
              <a:t>1. מטופלים וחדרים- </a:t>
            </a:r>
            <a:r>
              <a:rPr lang="he-IL" altLang="he-IL" sz="2400" dirty="0">
                <a:latin typeface="Arial" panose="020B0604020202020204" pitchFamily="34" charset="0"/>
              </a:rPr>
              <a:t>לכל מטופל יש חדר אחד ובכל חדר יש מספר מטופלים.</a:t>
            </a:r>
          </a:p>
          <a:p>
            <a:pPr marL="342900" indent="-342900">
              <a:buFont typeface="+mj-lt"/>
              <a:buAutoNum type="arabicPeriod"/>
            </a:pPr>
            <a:endParaRPr lang="he-IL" altLang="he-IL" sz="2400" dirty="0">
              <a:latin typeface="Arial" panose="020B0604020202020204" pitchFamily="34" charset="0"/>
            </a:endParaRPr>
          </a:p>
          <a:p>
            <a:pPr algn="r"/>
            <a:r>
              <a:rPr lang="he-IL" sz="2400" b="1" dirty="0">
                <a:latin typeface="Arial" panose="020B0604020202020204" pitchFamily="34" charset="0"/>
              </a:rPr>
              <a:t>2. מטופלים ופעילויות- </a:t>
            </a:r>
            <a:r>
              <a:rPr lang="he-IL" sz="2400" dirty="0">
                <a:latin typeface="Arial" panose="020B0604020202020204" pitchFamily="34" charset="0"/>
              </a:rPr>
              <a:t>כל מטופל נרשם לפעילות אחת ולפעילות יש מספר מטופלים.</a:t>
            </a:r>
          </a:p>
          <a:p>
            <a:pPr marL="342900" indent="-342900">
              <a:buFont typeface="+mj-lt"/>
              <a:buAutoNum type="arabicPeriod"/>
            </a:pPr>
            <a:endParaRPr lang="he-IL" sz="2400" dirty="0">
              <a:latin typeface="Arial" panose="020B0604020202020204" pitchFamily="34" charset="0"/>
            </a:endParaRPr>
          </a:p>
          <a:p>
            <a:pPr algn="r"/>
            <a:r>
              <a:rPr lang="he-IL" sz="2400" b="1" dirty="0">
                <a:latin typeface="Arial" panose="020B0604020202020204" pitchFamily="34" charset="0"/>
              </a:rPr>
              <a:t>3. מטופלים וציוד- </a:t>
            </a:r>
            <a:r>
              <a:rPr lang="he-IL" sz="2400" dirty="0">
                <a:latin typeface="Arial" panose="020B0604020202020204" pitchFamily="34" charset="0"/>
              </a:rPr>
              <a:t>מטופל יכול לקבל ציוד רפואי אחד וציוד יכול להיות מוקצה למספר מטופלים.</a:t>
            </a:r>
          </a:p>
          <a:p>
            <a:pPr marL="342900" indent="-342900">
              <a:buFont typeface="+mj-lt"/>
              <a:buAutoNum type="arabicPeriod"/>
            </a:pPr>
            <a:endParaRPr lang="he-IL" sz="2400" dirty="0">
              <a:latin typeface="Arial" panose="020B0604020202020204" pitchFamily="34" charset="0"/>
            </a:endParaRPr>
          </a:p>
          <a:p>
            <a:pPr algn="r"/>
            <a:r>
              <a:rPr lang="he-IL" sz="2400" b="1" dirty="0">
                <a:latin typeface="Arial" panose="020B0604020202020204" pitchFamily="34" charset="0"/>
              </a:rPr>
              <a:t>4. אחיות וחדרים- </a:t>
            </a:r>
            <a:r>
              <a:rPr lang="he-IL" sz="2400" dirty="0">
                <a:latin typeface="Arial" panose="020B0604020202020204" pitchFamily="34" charset="0"/>
              </a:rPr>
              <a:t>על כל חדר אחראית אחות אחת וכל אחות יכולה </a:t>
            </a:r>
            <a:r>
              <a:rPr lang="he-IL" sz="2400" dirty="0" err="1">
                <a:latin typeface="Arial" panose="020B0604020202020204" pitchFamily="34" charset="0"/>
              </a:rPr>
              <a:t>ליהיות</a:t>
            </a:r>
            <a:r>
              <a:rPr lang="he-IL" sz="2400" dirty="0">
                <a:latin typeface="Arial" panose="020B0604020202020204" pitchFamily="34" charset="0"/>
              </a:rPr>
              <a:t> אחראית על מספר חדרים</a:t>
            </a:r>
            <a:r>
              <a:rPr lang="he-IL" dirty="0">
                <a:latin typeface="Arial" panose="020B0604020202020204" pitchFamily="34" charset="0"/>
              </a:rPr>
              <a:t>.</a:t>
            </a:r>
            <a:endParaRPr lang="he-IL" dirty="0"/>
          </a:p>
        </p:txBody>
      </p:sp>
      <p:sp>
        <p:nvSpPr>
          <p:cNvPr id="2" name="כותרת 1">
            <a:extLst>
              <a:ext uri="{FF2B5EF4-FFF2-40B4-BE49-F238E27FC236}">
                <a16:creationId xmlns:a16="http://schemas.microsoft.com/office/drawing/2014/main" id="{523E58A0-BA6E-22E7-8A07-8DBEFCF148B0}"/>
              </a:ext>
            </a:extLst>
          </p:cNvPr>
          <p:cNvSpPr>
            <a:spLocks noGrp="1"/>
          </p:cNvSpPr>
          <p:nvPr>
            <p:ph type="title"/>
          </p:nvPr>
        </p:nvSpPr>
        <p:spPr>
          <a:xfrm>
            <a:off x="7380514" y="655447"/>
            <a:ext cx="4356495" cy="611620"/>
          </a:xfrm>
        </p:spPr>
        <p:txBody>
          <a:bodyPr>
            <a:noAutofit/>
          </a:bodyPr>
          <a:lstStyle/>
          <a:p>
            <a:r>
              <a:rPr lang="he-IL" b="1" i="1" dirty="0">
                <a:solidFill>
                  <a:schemeClr val="tx2">
                    <a:lumMod val="60000"/>
                    <a:lumOff val="40000"/>
                  </a:schemeClr>
                </a:solidFill>
                <a:latin typeface="Arial" panose="020B0604020202020204" pitchFamily="34" charset="0"/>
                <a:cs typeface="Arial" panose="020B0604020202020204" pitchFamily="34" charset="0"/>
              </a:rPr>
              <a:t>תיאור התלויות:</a:t>
            </a:r>
          </a:p>
        </p:txBody>
      </p:sp>
    </p:spTree>
    <p:extLst>
      <p:ext uri="{BB962C8B-B14F-4D97-AF65-F5344CB8AC3E}">
        <p14:creationId xmlns:p14="http://schemas.microsoft.com/office/powerpoint/2010/main" val="3967832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תמונה 27">
            <a:extLst>
              <a:ext uri="{FF2B5EF4-FFF2-40B4-BE49-F238E27FC236}">
                <a16:creationId xmlns:a16="http://schemas.microsoft.com/office/drawing/2014/main" id="{E5D050EF-2556-DBB9-9DD7-44F6DA923E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27" y="-42791"/>
            <a:ext cx="12206364" cy="6900791"/>
          </a:xfrm>
          <a:prstGeom prst="rect">
            <a:avLst/>
          </a:prstGeom>
        </p:spPr>
      </p:pic>
      <p:sp>
        <p:nvSpPr>
          <p:cNvPr id="2" name="כותרת 1">
            <a:extLst>
              <a:ext uri="{FF2B5EF4-FFF2-40B4-BE49-F238E27FC236}">
                <a16:creationId xmlns:a16="http://schemas.microsoft.com/office/drawing/2014/main" id="{7461DE2B-899A-21E3-0BAF-2B3591F89CD6}"/>
              </a:ext>
            </a:extLst>
          </p:cNvPr>
          <p:cNvSpPr>
            <a:spLocks noGrp="1"/>
          </p:cNvSpPr>
          <p:nvPr>
            <p:ph type="title"/>
          </p:nvPr>
        </p:nvSpPr>
        <p:spPr>
          <a:xfrm>
            <a:off x="8230466" y="480213"/>
            <a:ext cx="2116282" cy="611620"/>
          </a:xfrm>
        </p:spPr>
        <p:txBody>
          <a:bodyPr>
            <a:noAutofit/>
          </a:bodyPr>
          <a:lstStyle/>
          <a:p>
            <a:r>
              <a:rPr lang="he-IL" b="1" i="1" dirty="0">
                <a:solidFill>
                  <a:schemeClr val="tx2">
                    <a:lumMod val="60000"/>
                    <a:lumOff val="40000"/>
                  </a:schemeClr>
                </a:solidFill>
                <a:latin typeface="Arial" panose="020B0604020202020204" pitchFamily="34" charset="0"/>
                <a:cs typeface="Arial" panose="020B0604020202020204" pitchFamily="34" charset="0"/>
              </a:rPr>
              <a:t>אילוצים:</a:t>
            </a:r>
          </a:p>
        </p:txBody>
      </p:sp>
      <p:grpSp>
        <p:nvGrpSpPr>
          <p:cNvPr id="22" name="קבוצה 21">
            <a:extLst>
              <a:ext uri="{FF2B5EF4-FFF2-40B4-BE49-F238E27FC236}">
                <a16:creationId xmlns:a16="http://schemas.microsoft.com/office/drawing/2014/main" id="{8F46B04C-8321-4CA7-6A53-04E8EA29E051}"/>
              </a:ext>
            </a:extLst>
          </p:cNvPr>
          <p:cNvGrpSpPr/>
          <p:nvPr/>
        </p:nvGrpSpPr>
        <p:grpSpPr>
          <a:xfrm>
            <a:off x="-79663" y="1226527"/>
            <a:ext cx="12198927" cy="2622850"/>
            <a:chOff x="-6927" y="2005846"/>
            <a:chExt cx="12198927" cy="2622850"/>
          </a:xfrm>
        </p:grpSpPr>
        <p:sp>
          <p:nvSpPr>
            <p:cNvPr id="9" name="תיבת טקסט 8">
              <a:extLst>
                <a:ext uri="{FF2B5EF4-FFF2-40B4-BE49-F238E27FC236}">
                  <a16:creationId xmlns:a16="http://schemas.microsoft.com/office/drawing/2014/main" id="{C294F36F-5E32-2A30-29B1-95253856FA89}"/>
                </a:ext>
              </a:extLst>
            </p:cNvPr>
            <p:cNvSpPr txBox="1"/>
            <p:nvPr/>
          </p:nvSpPr>
          <p:spPr>
            <a:xfrm>
              <a:off x="27709" y="2005846"/>
              <a:ext cx="7790585" cy="369332"/>
            </a:xfrm>
            <a:prstGeom prst="rect">
              <a:avLst/>
            </a:prstGeom>
            <a:noFill/>
          </p:spPr>
          <p:txBody>
            <a:bodyPr wrap="square">
              <a:spAutoFit/>
            </a:bodyPr>
            <a:lstStyle/>
            <a:p>
              <a:r>
                <a:rPr lang="en-US" sz="1800" dirty="0">
                  <a:solidFill>
                    <a:srgbClr val="0000FF"/>
                  </a:solidFill>
                  <a:latin typeface="Consolas" panose="020B0609020204030204" pitchFamily="49" charset="0"/>
                </a:rPr>
                <a:t>1. 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Nurses </a:t>
              </a:r>
              <a:r>
                <a:rPr lang="en-US" sz="1800" dirty="0">
                  <a:solidFill>
                    <a:srgbClr val="0000FF"/>
                  </a:solidFill>
                  <a:latin typeface="Consolas" panose="020B0609020204030204" pitchFamily="49" charset="0"/>
                </a:rPr>
                <a:t>Add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constraint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NursesID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unique </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N_id</a:t>
              </a:r>
              <a:r>
                <a:rPr lang="en-US" sz="1800" dirty="0">
                  <a:solidFill>
                    <a:srgbClr val="808080"/>
                  </a:solidFill>
                  <a:latin typeface="Consolas" panose="020B0609020204030204" pitchFamily="49" charset="0"/>
                </a:rPr>
                <a:t>)</a:t>
              </a:r>
              <a:endParaRPr lang="he-IL" dirty="0"/>
            </a:p>
          </p:txBody>
        </p:sp>
        <p:sp>
          <p:nvSpPr>
            <p:cNvPr id="11" name="תיבת טקסט 10">
              <a:extLst>
                <a:ext uri="{FF2B5EF4-FFF2-40B4-BE49-F238E27FC236}">
                  <a16:creationId xmlns:a16="http://schemas.microsoft.com/office/drawing/2014/main" id="{390838CF-D27C-383F-3C40-F31D6768679D}"/>
                </a:ext>
              </a:extLst>
            </p:cNvPr>
            <p:cNvSpPr txBox="1"/>
            <p:nvPr/>
          </p:nvSpPr>
          <p:spPr>
            <a:xfrm>
              <a:off x="0" y="2361635"/>
              <a:ext cx="8303202" cy="369332"/>
            </a:xfrm>
            <a:prstGeom prst="rect">
              <a:avLst/>
            </a:prstGeom>
            <a:noFill/>
          </p:spPr>
          <p:txBody>
            <a:bodyPr wrap="square">
              <a:spAutoFit/>
            </a:bodyPr>
            <a:lstStyle/>
            <a:p>
              <a:r>
                <a:rPr lang="fr-FR" sz="1800" dirty="0">
                  <a:solidFill>
                    <a:srgbClr val="0000FF"/>
                  </a:solidFill>
                  <a:latin typeface="Consolas" panose="020B0609020204030204" pitchFamily="49" charset="0"/>
                </a:rPr>
                <a:t>2. Alter</a:t>
              </a:r>
              <a:r>
                <a:rPr lang="fr-FR" sz="1800" dirty="0">
                  <a:solidFill>
                    <a:srgbClr val="000000"/>
                  </a:solidFill>
                  <a:latin typeface="Consolas" panose="020B0609020204030204" pitchFamily="49" charset="0"/>
                </a:rPr>
                <a:t> </a:t>
              </a:r>
              <a:r>
                <a:rPr lang="fr-FR" sz="1800" dirty="0">
                  <a:solidFill>
                    <a:srgbClr val="0000FF"/>
                  </a:solidFill>
                  <a:latin typeface="Consolas" panose="020B0609020204030204" pitchFamily="49" charset="0"/>
                </a:rPr>
                <a:t>table</a:t>
              </a:r>
              <a:r>
                <a:rPr lang="fr-FR" sz="1800" dirty="0">
                  <a:solidFill>
                    <a:srgbClr val="000000"/>
                  </a:solidFill>
                  <a:latin typeface="Consolas" panose="020B0609020204030204" pitchFamily="49" charset="0"/>
                </a:rPr>
                <a:t> Patients </a:t>
              </a:r>
              <a:r>
                <a:rPr lang="fr-FR" sz="1800" dirty="0" err="1">
                  <a:solidFill>
                    <a:srgbClr val="0000FF"/>
                  </a:solidFill>
                  <a:latin typeface="Consolas" panose="020B0609020204030204" pitchFamily="49" charset="0"/>
                </a:rPr>
                <a:t>Add</a:t>
              </a:r>
              <a:r>
                <a:rPr lang="fr-FR" sz="1800" dirty="0">
                  <a:solidFill>
                    <a:srgbClr val="000000"/>
                  </a:solidFill>
                  <a:latin typeface="Consolas" panose="020B0609020204030204" pitchFamily="49" charset="0"/>
                </a:rPr>
                <a:t> </a:t>
              </a:r>
              <a:r>
                <a:rPr lang="fr-FR" sz="1800" dirty="0" err="1">
                  <a:solidFill>
                    <a:srgbClr val="0000FF"/>
                  </a:solidFill>
                  <a:latin typeface="Consolas" panose="020B0609020204030204" pitchFamily="49" charset="0"/>
                </a:rPr>
                <a:t>constraint</a:t>
              </a:r>
              <a:r>
                <a:rPr lang="fr-FR" sz="1800" dirty="0">
                  <a:solidFill>
                    <a:srgbClr val="000000"/>
                  </a:solidFill>
                  <a:latin typeface="Consolas" panose="020B0609020204030204" pitchFamily="49" charset="0"/>
                </a:rPr>
                <a:t> </a:t>
              </a:r>
              <a:r>
                <a:rPr lang="fr-FR" sz="1800" dirty="0" err="1">
                  <a:solidFill>
                    <a:srgbClr val="000000"/>
                  </a:solidFill>
                  <a:latin typeface="Consolas" panose="020B0609020204030204" pitchFamily="49" charset="0"/>
                </a:rPr>
                <a:t>PatientsID</a:t>
              </a:r>
              <a:r>
                <a:rPr lang="fr-FR" sz="1800" dirty="0">
                  <a:solidFill>
                    <a:srgbClr val="000000"/>
                  </a:solidFill>
                  <a:latin typeface="Consolas" panose="020B0609020204030204" pitchFamily="49" charset="0"/>
                </a:rPr>
                <a:t> </a:t>
              </a:r>
              <a:r>
                <a:rPr lang="fr-FR" sz="1800" dirty="0">
                  <a:solidFill>
                    <a:srgbClr val="0000FF"/>
                  </a:solidFill>
                  <a:latin typeface="Consolas" panose="020B0609020204030204" pitchFamily="49" charset="0"/>
                </a:rPr>
                <a:t>unique </a:t>
              </a:r>
              <a:r>
                <a:rPr lang="fr-FR" sz="1800" dirty="0">
                  <a:solidFill>
                    <a:srgbClr val="808080"/>
                  </a:solidFill>
                  <a:latin typeface="Consolas" panose="020B0609020204030204" pitchFamily="49" charset="0"/>
                </a:rPr>
                <a:t>(</a:t>
              </a:r>
              <a:r>
                <a:rPr lang="fr-FR" sz="1800" dirty="0" err="1">
                  <a:solidFill>
                    <a:srgbClr val="000000"/>
                  </a:solidFill>
                  <a:latin typeface="Consolas" panose="020B0609020204030204" pitchFamily="49" charset="0"/>
                </a:rPr>
                <a:t>P_Id</a:t>
              </a:r>
              <a:r>
                <a:rPr lang="fr-FR" sz="1800" dirty="0">
                  <a:solidFill>
                    <a:srgbClr val="808080"/>
                  </a:solidFill>
                  <a:latin typeface="Consolas" panose="020B0609020204030204" pitchFamily="49" charset="0"/>
                </a:rPr>
                <a:t>)</a:t>
              </a:r>
              <a:endParaRPr lang="he-IL" dirty="0"/>
            </a:p>
          </p:txBody>
        </p:sp>
        <p:sp>
          <p:nvSpPr>
            <p:cNvPr id="13" name="תיבת טקסט 12">
              <a:extLst>
                <a:ext uri="{FF2B5EF4-FFF2-40B4-BE49-F238E27FC236}">
                  <a16:creationId xmlns:a16="http://schemas.microsoft.com/office/drawing/2014/main" id="{0D0DE193-35BF-1836-1471-44E3C40366B0}"/>
                </a:ext>
              </a:extLst>
            </p:cNvPr>
            <p:cNvSpPr txBox="1"/>
            <p:nvPr/>
          </p:nvSpPr>
          <p:spPr>
            <a:xfrm>
              <a:off x="-6927" y="2730967"/>
              <a:ext cx="12198927" cy="369332"/>
            </a:xfrm>
            <a:prstGeom prst="rect">
              <a:avLst/>
            </a:prstGeom>
            <a:noFill/>
          </p:spPr>
          <p:txBody>
            <a:bodyPr wrap="square">
              <a:spAutoFit/>
            </a:bodyPr>
            <a:lstStyle/>
            <a:p>
              <a:r>
                <a:rPr lang="en-US" sz="1800" dirty="0">
                  <a:solidFill>
                    <a:srgbClr val="0000FF"/>
                  </a:solidFill>
                  <a:latin typeface="Consolas" panose="020B0609020204030204" pitchFamily="49" charset="0"/>
                </a:rPr>
                <a:t>3. 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Patients </a:t>
              </a:r>
              <a:r>
                <a:rPr lang="en-US" sz="1800" dirty="0">
                  <a:solidFill>
                    <a:srgbClr val="0000FF"/>
                  </a:solidFill>
                  <a:latin typeface="Consolas" panose="020B0609020204030204" pitchFamily="49" charset="0"/>
                </a:rPr>
                <a:t>Add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constraint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AgePatients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check </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year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Birthdate</a:t>
              </a:r>
              <a:r>
                <a:rPr lang="en-US" sz="1800" dirty="0">
                  <a:solidFill>
                    <a:srgbClr val="808080"/>
                  </a:solidFill>
                  <a:latin typeface="Consolas" panose="020B0609020204030204" pitchFamily="49" charset="0"/>
                </a:rPr>
                <a:t>)&lt;=</a:t>
              </a:r>
              <a:r>
                <a:rPr lang="en-US" sz="1800" dirty="0">
                  <a:solidFill>
                    <a:srgbClr val="FF00FF"/>
                  </a:solidFill>
                  <a:latin typeface="Consolas" panose="020B0609020204030204" pitchFamily="49" charset="0"/>
                </a:rPr>
                <a:t>year</a:t>
              </a:r>
              <a:r>
                <a:rPr lang="en-US" sz="1800" dirty="0">
                  <a:solidFill>
                    <a:srgbClr val="808080"/>
                  </a:solidFill>
                  <a:latin typeface="Consolas" panose="020B0609020204030204" pitchFamily="49" charset="0"/>
                </a:rPr>
                <a:t>(</a:t>
              </a:r>
              <a:r>
                <a:rPr lang="en-US" sz="1800" dirty="0" err="1">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60</a:t>
              </a:r>
              <a:r>
                <a:rPr lang="en-US" sz="1800" dirty="0">
                  <a:solidFill>
                    <a:srgbClr val="808080"/>
                  </a:solidFill>
                  <a:latin typeface="Consolas" panose="020B0609020204030204" pitchFamily="49" charset="0"/>
                </a:rPr>
                <a:t>)</a:t>
              </a:r>
              <a:endParaRPr lang="he-IL" dirty="0"/>
            </a:p>
          </p:txBody>
        </p:sp>
        <p:sp>
          <p:nvSpPr>
            <p:cNvPr id="15" name="תיבת טקסט 14">
              <a:extLst>
                <a:ext uri="{FF2B5EF4-FFF2-40B4-BE49-F238E27FC236}">
                  <a16:creationId xmlns:a16="http://schemas.microsoft.com/office/drawing/2014/main" id="{316641CE-1E47-6497-FADE-EF5F02824DFB}"/>
                </a:ext>
              </a:extLst>
            </p:cNvPr>
            <p:cNvSpPr txBox="1"/>
            <p:nvPr/>
          </p:nvSpPr>
          <p:spPr>
            <a:xfrm>
              <a:off x="-6927" y="3091163"/>
              <a:ext cx="9535391" cy="369332"/>
            </a:xfrm>
            <a:prstGeom prst="rect">
              <a:avLst/>
            </a:prstGeom>
            <a:noFill/>
          </p:spPr>
          <p:txBody>
            <a:bodyPr wrap="square">
              <a:spAutoFit/>
            </a:bodyPr>
            <a:lstStyle/>
            <a:p>
              <a:r>
                <a:rPr lang="en-US" dirty="0">
                  <a:solidFill>
                    <a:srgbClr val="0000FF"/>
                  </a:solidFill>
                  <a:latin typeface="Consolas" panose="020B0609020204030204" pitchFamily="49" charset="0"/>
                </a:rPr>
                <a:t>4. </a:t>
              </a:r>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Patients </a:t>
              </a:r>
              <a:r>
                <a:rPr lang="en-US" sz="1800" dirty="0">
                  <a:solidFill>
                    <a:srgbClr val="0000FF"/>
                  </a:solidFill>
                  <a:latin typeface="Consolas" panose="020B0609020204030204" pitchFamily="49" charset="0"/>
                </a:rPr>
                <a:t>Add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constraint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PhoneLength</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check </a:t>
              </a:r>
              <a:r>
                <a:rPr lang="en-US" sz="1800" dirty="0">
                  <a:solidFill>
                    <a:srgbClr val="808080"/>
                  </a:solidFill>
                  <a:latin typeface="Consolas" panose="020B0609020204030204" pitchFamily="49" charset="0"/>
                </a:rPr>
                <a:t>(</a:t>
              </a:r>
              <a:r>
                <a:rPr lang="en-US" sz="1800" dirty="0" err="1">
                  <a:solidFill>
                    <a:srgbClr val="FF00FF"/>
                  </a:solidFill>
                  <a:latin typeface="Consolas" panose="020B0609020204030204" pitchFamily="49" charset="0"/>
                </a:rPr>
                <a:t>len</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P_Phone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10</a:t>
              </a:r>
              <a:r>
                <a:rPr lang="en-US" sz="1800" dirty="0">
                  <a:solidFill>
                    <a:srgbClr val="808080"/>
                  </a:solidFill>
                  <a:latin typeface="Consolas" panose="020B0609020204030204" pitchFamily="49" charset="0"/>
                </a:rPr>
                <a:t>)</a:t>
              </a:r>
              <a:endParaRPr lang="he-IL" dirty="0"/>
            </a:p>
          </p:txBody>
        </p:sp>
        <p:sp>
          <p:nvSpPr>
            <p:cNvPr id="17" name="תיבת טקסט 16">
              <a:extLst>
                <a:ext uri="{FF2B5EF4-FFF2-40B4-BE49-F238E27FC236}">
                  <a16:creationId xmlns:a16="http://schemas.microsoft.com/office/drawing/2014/main" id="{3A5235D1-42AC-DE83-DFD3-5054032EF0A0}"/>
                </a:ext>
              </a:extLst>
            </p:cNvPr>
            <p:cNvSpPr txBox="1"/>
            <p:nvPr/>
          </p:nvSpPr>
          <p:spPr>
            <a:xfrm>
              <a:off x="-6927" y="3495165"/>
              <a:ext cx="12088091" cy="369332"/>
            </a:xfrm>
            <a:prstGeom prst="rect">
              <a:avLst/>
            </a:prstGeom>
            <a:noFill/>
          </p:spPr>
          <p:txBody>
            <a:bodyPr wrap="square">
              <a:spAutoFit/>
            </a:bodyPr>
            <a:lstStyle/>
            <a:p>
              <a:r>
                <a:rPr lang="en-US" sz="1800" dirty="0">
                  <a:solidFill>
                    <a:srgbClr val="0000FF"/>
                  </a:solidFill>
                  <a:latin typeface="Consolas" panose="020B0609020204030204" pitchFamily="49" charset="0"/>
                </a:rPr>
                <a:t>5. 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Activities </a:t>
              </a:r>
              <a:r>
                <a:rPr lang="en-US" sz="1800" dirty="0">
                  <a:solidFill>
                    <a:srgbClr val="0000FF"/>
                  </a:solidFill>
                  <a:latin typeface="Consolas" panose="020B0609020204030204" pitchFamily="49" charset="0"/>
                </a:rPr>
                <a:t>Add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constraint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DurationOfActivity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default</a:t>
              </a:r>
              <a:r>
                <a:rPr lang="en-US" sz="1800" dirty="0">
                  <a:solidFill>
                    <a:srgbClr val="000000"/>
                  </a:solidFill>
                  <a:latin typeface="Consolas" panose="020B0609020204030204" pitchFamily="49" charset="0"/>
                </a:rPr>
                <a:t> 60 </a:t>
              </a:r>
              <a:r>
                <a:rPr lang="en-US" sz="1800" dirty="0">
                  <a:solidFill>
                    <a:srgbClr val="0000FF"/>
                  </a:solidFill>
                  <a:latin typeface="Consolas" panose="020B0609020204030204" pitchFamily="49" charset="0"/>
                </a:rPr>
                <a:t>for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DurationOfActivity</a:t>
              </a:r>
              <a:r>
                <a:rPr lang="en-US" sz="1800" dirty="0">
                  <a:solidFill>
                    <a:srgbClr val="000000"/>
                  </a:solidFill>
                  <a:latin typeface="Consolas" panose="020B0609020204030204" pitchFamily="49" charset="0"/>
                </a:rPr>
                <a:t> </a:t>
              </a:r>
              <a:endParaRPr lang="he-IL" dirty="0"/>
            </a:p>
          </p:txBody>
        </p:sp>
        <p:sp>
          <p:nvSpPr>
            <p:cNvPr id="19" name="תיבת טקסט 18">
              <a:extLst>
                <a:ext uri="{FF2B5EF4-FFF2-40B4-BE49-F238E27FC236}">
                  <a16:creationId xmlns:a16="http://schemas.microsoft.com/office/drawing/2014/main" id="{465BF6B9-F434-8840-F523-7990A77CA0B2}"/>
                </a:ext>
              </a:extLst>
            </p:cNvPr>
            <p:cNvSpPr txBox="1"/>
            <p:nvPr/>
          </p:nvSpPr>
          <p:spPr>
            <a:xfrm>
              <a:off x="-6927" y="3864497"/>
              <a:ext cx="10845078" cy="369332"/>
            </a:xfrm>
            <a:prstGeom prst="rect">
              <a:avLst/>
            </a:prstGeom>
            <a:noFill/>
          </p:spPr>
          <p:txBody>
            <a:bodyPr wrap="square">
              <a:spAutoFit/>
            </a:bodyPr>
            <a:lstStyle/>
            <a:p>
              <a:r>
                <a:rPr lang="en-US" sz="1800" dirty="0">
                  <a:solidFill>
                    <a:srgbClr val="0000FF"/>
                  </a:solidFill>
                  <a:latin typeface="Consolas" panose="020B0609020204030204" pitchFamily="49" charset="0"/>
                </a:rPr>
                <a:t>6. 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Rooms </a:t>
              </a:r>
              <a:r>
                <a:rPr lang="en-US" sz="1800" dirty="0">
                  <a:solidFill>
                    <a:srgbClr val="0000FF"/>
                  </a:solidFill>
                  <a:latin typeface="Consolas" panose="020B0609020204030204" pitchFamily="49" charset="0"/>
                </a:rPr>
                <a:t>Add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constraint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CostRooms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check</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CostRoom</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between</a:t>
              </a:r>
              <a:r>
                <a:rPr lang="en-US" sz="1800" dirty="0">
                  <a:solidFill>
                    <a:srgbClr val="000000"/>
                  </a:solidFill>
                  <a:latin typeface="Consolas" panose="020B0609020204030204" pitchFamily="49" charset="0"/>
                </a:rPr>
                <a:t> 14000 </a:t>
              </a:r>
              <a:r>
                <a:rPr lang="en-US" sz="1800" dirty="0">
                  <a:solidFill>
                    <a:srgbClr val="808080"/>
                  </a:solidFill>
                  <a:latin typeface="Consolas" panose="020B0609020204030204" pitchFamily="49" charset="0"/>
                </a:rPr>
                <a:t>and</a:t>
              </a:r>
              <a:r>
                <a:rPr lang="en-US" sz="1800" dirty="0">
                  <a:solidFill>
                    <a:srgbClr val="000000"/>
                  </a:solidFill>
                  <a:latin typeface="Consolas" panose="020B0609020204030204" pitchFamily="49" charset="0"/>
                </a:rPr>
                <a:t> 25000</a:t>
              </a:r>
              <a:r>
                <a:rPr lang="en-US" sz="1800" dirty="0">
                  <a:solidFill>
                    <a:srgbClr val="808080"/>
                  </a:solidFill>
                  <a:latin typeface="Consolas" panose="020B0609020204030204" pitchFamily="49" charset="0"/>
                </a:rPr>
                <a:t>)</a:t>
              </a:r>
              <a:endParaRPr lang="he-IL" dirty="0"/>
            </a:p>
          </p:txBody>
        </p:sp>
        <p:sp>
          <p:nvSpPr>
            <p:cNvPr id="21" name="תיבת טקסט 20">
              <a:extLst>
                <a:ext uri="{FF2B5EF4-FFF2-40B4-BE49-F238E27FC236}">
                  <a16:creationId xmlns:a16="http://schemas.microsoft.com/office/drawing/2014/main" id="{8CF95847-4EB0-F0B6-17D5-A18A08F72616}"/>
                </a:ext>
              </a:extLst>
            </p:cNvPr>
            <p:cNvSpPr txBox="1"/>
            <p:nvPr/>
          </p:nvSpPr>
          <p:spPr>
            <a:xfrm>
              <a:off x="-6927" y="4259364"/>
              <a:ext cx="7593156" cy="369332"/>
            </a:xfrm>
            <a:prstGeom prst="rect">
              <a:avLst/>
            </a:prstGeom>
            <a:noFill/>
          </p:spPr>
          <p:txBody>
            <a:bodyPr wrap="square">
              <a:spAutoFit/>
            </a:bodyPr>
            <a:lstStyle/>
            <a:p>
              <a:r>
                <a:rPr lang="en-US" sz="1800" dirty="0">
                  <a:solidFill>
                    <a:srgbClr val="0000FF"/>
                  </a:solidFill>
                  <a:latin typeface="Consolas" panose="020B0609020204030204" pitchFamily="49" charset="0"/>
                </a:rPr>
                <a:t>7. 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Rooms </a:t>
              </a:r>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column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NursesCode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r>
                <a:rPr lang="en-US" sz="1800" dirty="0">
                  <a:solidFill>
                    <a:srgbClr val="000000"/>
                  </a:solidFill>
                  <a:latin typeface="Consolas" panose="020B0609020204030204" pitchFamily="49" charset="0"/>
                </a:rPr>
                <a:t> </a:t>
              </a:r>
            </a:p>
          </p:txBody>
        </p:sp>
      </p:grpSp>
      <p:sp>
        <p:nvSpPr>
          <p:cNvPr id="23" name="תיבת טקסט 22">
            <a:extLst>
              <a:ext uri="{FF2B5EF4-FFF2-40B4-BE49-F238E27FC236}">
                <a16:creationId xmlns:a16="http://schemas.microsoft.com/office/drawing/2014/main" id="{C450C427-78D4-EDB3-D5FC-4BF465B62938}"/>
              </a:ext>
            </a:extLst>
          </p:cNvPr>
          <p:cNvSpPr txBox="1"/>
          <p:nvPr/>
        </p:nvSpPr>
        <p:spPr>
          <a:xfrm>
            <a:off x="4621639" y="4230304"/>
            <a:ext cx="7217653" cy="2246769"/>
          </a:xfrm>
          <a:prstGeom prst="rect">
            <a:avLst/>
          </a:prstGeom>
          <a:noFill/>
        </p:spPr>
        <p:txBody>
          <a:bodyPr wrap="square" rtlCol="1">
            <a:spAutoFit/>
          </a:bodyPr>
          <a:lstStyle/>
          <a:p>
            <a:pPr algn="r"/>
            <a:r>
              <a:rPr lang="he-IL" sz="2000" dirty="0"/>
              <a:t>1. ת.ז של אחות </a:t>
            </a:r>
            <a:r>
              <a:rPr lang="he-IL" sz="2000" dirty="0" err="1"/>
              <a:t>תיהיה</a:t>
            </a:r>
            <a:r>
              <a:rPr lang="he-IL" sz="2000" dirty="0"/>
              <a:t> </a:t>
            </a:r>
            <a:r>
              <a:rPr lang="he-IL" sz="2000" dirty="0" err="1"/>
              <a:t>יחודית</a:t>
            </a:r>
            <a:r>
              <a:rPr lang="he-IL" sz="2000" dirty="0"/>
              <a:t>, לא יהיו שתי אחיות עם אותה ת.ז.</a:t>
            </a:r>
            <a:endParaRPr lang="en-US" sz="2000" dirty="0"/>
          </a:p>
          <a:p>
            <a:pPr algn="r"/>
            <a:r>
              <a:rPr lang="he-IL" sz="2000" dirty="0"/>
              <a:t>2. ת.ז של מטופל </a:t>
            </a:r>
            <a:r>
              <a:rPr lang="he-IL" sz="2000" dirty="0" err="1"/>
              <a:t>תיהיה</a:t>
            </a:r>
            <a:r>
              <a:rPr lang="he-IL" sz="2000" dirty="0"/>
              <a:t> </a:t>
            </a:r>
            <a:r>
              <a:rPr lang="he-IL" sz="2000" dirty="0" err="1"/>
              <a:t>יחודית</a:t>
            </a:r>
            <a:r>
              <a:rPr lang="he-IL" sz="2000" dirty="0"/>
              <a:t>, לא יהיו שתי מטופלים עם אותה ת.ז.</a:t>
            </a:r>
            <a:endParaRPr lang="en-US" sz="2000" dirty="0"/>
          </a:p>
          <a:p>
            <a:pPr algn="r"/>
            <a:r>
              <a:rPr lang="he-IL" sz="2000" dirty="0"/>
              <a:t>3. בודק את תקינות גיל המטופל- מינימום 60.</a:t>
            </a:r>
            <a:endParaRPr lang="en-US" sz="2000" dirty="0"/>
          </a:p>
          <a:p>
            <a:pPr algn="r"/>
            <a:r>
              <a:rPr lang="he-IL" sz="2000" dirty="0"/>
              <a:t>4. בודק את תקינות המספר טל- עשרה ספרות.</a:t>
            </a:r>
            <a:endParaRPr lang="en-US" sz="2000" dirty="0"/>
          </a:p>
          <a:p>
            <a:pPr algn="r"/>
            <a:r>
              <a:rPr lang="he-IL" sz="2000" dirty="0"/>
              <a:t>5. משך פעילות </a:t>
            </a:r>
            <a:r>
              <a:rPr lang="he-IL" sz="2000" dirty="0" err="1"/>
              <a:t>תיהיה</a:t>
            </a:r>
            <a:r>
              <a:rPr lang="he-IL" sz="2000" dirty="0"/>
              <a:t> ברירת מחדל שעה.</a:t>
            </a:r>
            <a:endParaRPr lang="en-US" sz="2000" dirty="0"/>
          </a:p>
          <a:p>
            <a:pPr algn="r"/>
            <a:r>
              <a:rPr lang="he-IL" sz="2000" dirty="0"/>
              <a:t>6. מחיר חדר יהיה בין 14000 ל 25000.</a:t>
            </a:r>
          </a:p>
          <a:p>
            <a:pPr algn="r"/>
            <a:r>
              <a:rPr lang="en-US" sz="2000" dirty="0">
                <a:solidFill>
                  <a:srgbClr val="000000"/>
                </a:solidFill>
                <a:latin typeface="Consolas" panose="020B0609020204030204" pitchFamily="49" charset="0"/>
              </a:rPr>
              <a:t>  </a:t>
            </a:r>
            <a:r>
              <a:rPr lang="he-IL" sz="2000" dirty="0">
                <a:solidFill>
                  <a:srgbClr val="000000"/>
                </a:solidFill>
                <a:latin typeface="Consolas" panose="020B0609020204030204" pitchFamily="49" charset="0"/>
              </a:rPr>
              <a:t> חייבת להתמלאות.</a:t>
            </a:r>
            <a:r>
              <a:rPr lang="en-US" sz="2000" dirty="0">
                <a:solidFill>
                  <a:srgbClr val="000000"/>
                </a:solidFill>
                <a:latin typeface="Consolas" panose="020B0609020204030204" pitchFamily="49" charset="0"/>
              </a:rPr>
              <a:t>Rooms</a:t>
            </a:r>
            <a:r>
              <a:rPr lang="he-IL" sz="2000" dirty="0">
                <a:solidFill>
                  <a:srgbClr val="000000"/>
                </a:solidFill>
                <a:latin typeface="Consolas" panose="020B0609020204030204" pitchFamily="49" charset="0"/>
              </a:rPr>
              <a:t> בטבלת </a:t>
            </a:r>
            <a:r>
              <a:rPr lang="en-US" sz="2000" dirty="0" err="1">
                <a:solidFill>
                  <a:srgbClr val="000000"/>
                </a:solidFill>
                <a:latin typeface="Consolas" panose="020B0609020204030204" pitchFamily="49" charset="0"/>
              </a:rPr>
              <a:t>NursesCode</a:t>
            </a:r>
            <a:r>
              <a:rPr lang="he-IL" sz="2000" dirty="0">
                <a:solidFill>
                  <a:srgbClr val="000000"/>
                </a:solidFill>
                <a:latin typeface="Consolas" panose="020B0609020204030204" pitchFamily="49" charset="0"/>
              </a:rPr>
              <a:t>7</a:t>
            </a:r>
            <a:r>
              <a:rPr lang="he-IL" sz="2000" dirty="0"/>
              <a:t>. העמודה  </a:t>
            </a:r>
          </a:p>
        </p:txBody>
      </p:sp>
    </p:spTree>
    <p:extLst>
      <p:ext uri="{BB962C8B-B14F-4D97-AF65-F5344CB8AC3E}">
        <p14:creationId xmlns:p14="http://schemas.microsoft.com/office/powerpoint/2010/main" val="234156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CC22025-30CD-2BD4-34AD-B915637A3AC0}"/>
              </a:ext>
            </a:extLst>
          </p:cNvPr>
          <p:cNvSpPr>
            <a:spLocks noGrp="1"/>
          </p:cNvSpPr>
          <p:nvPr>
            <p:ph type="title"/>
          </p:nvPr>
        </p:nvSpPr>
        <p:spPr>
          <a:xfrm>
            <a:off x="8129847" y="1506222"/>
            <a:ext cx="3807230" cy="2648526"/>
          </a:xfrm>
        </p:spPr>
        <p:txBody>
          <a:bodyPr>
            <a:normAutofit fontScale="90000"/>
          </a:bodyPr>
          <a:lstStyle/>
          <a:p>
            <a:pPr algn="r"/>
            <a:r>
              <a:rPr lang="he-IL" dirty="0">
                <a:solidFill>
                  <a:schemeClr val="bg1"/>
                </a:solidFill>
              </a:rPr>
              <a:t>1.  מספר חדר</a:t>
            </a:r>
            <a:br>
              <a:rPr lang="he-IL" dirty="0">
                <a:solidFill>
                  <a:schemeClr val="bg1"/>
                </a:solidFill>
              </a:rPr>
            </a:br>
            <a:r>
              <a:rPr lang="he-IL" dirty="0">
                <a:solidFill>
                  <a:schemeClr val="bg1"/>
                </a:solidFill>
              </a:rPr>
              <a:t>2.  קומה</a:t>
            </a:r>
            <a:br>
              <a:rPr lang="he-IL" dirty="0">
                <a:solidFill>
                  <a:schemeClr val="bg1"/>
                </a:solidFill>
              </a:rPr>
            </a:br>
            <a:r>
              <a:rPr lang="he-IL" dirty="0">
                <a:solidFill>
                  <a:schemeClr val="bg1"/>
                </a:solidFill>
              </a:rPr>
              <a:t>3.  מספר מיטות בחדר</a:t>
            </a:r>
            <a:br>
              <a:rPr lang="he-IL" dirty="0">
                <a:solidFill>
                  <a:schemeClr val="bg1"/>
                </a:solidFill>
              </a:rPr>
            </a:br>
            <a:r>
              <a:rPr lang="he-IL" dirty="0">
                <a:solidFill>
                  <a:schemeClr val="bg1"/>
                </a:solidFill>
              </a:rPr>
              <a:t>4.  חדר </a:t>
            </a:r>
            <a:r>
              <a:rPr lang="en-US" dirty="0">
                <a:solidFill>
                  <a:schemeClr val="bg1"/>
                </a:solidFill>
              </a:rPr>
              <a:t>VIP</a:t>
            </a:r>
            <a:br>
              <a:rPr lang="he-IL" dirty="0">
                <a:solidFill>
                  <a:schemeClr val="bg1"/>
                </a:solidFill>
              </a:rPr>
            </a:br>
            <a:endParaRPr lang="he-IL" dirty="0">
              <a:solidFill>
                <a:schemeClr val="bg1"/>
              </a:solidFill>
            </a:endParaRPr>
          </a:p>
        </p:txBody>
      </p:sp>
      <p:pic>
        <p:nvPicPr>
          <p:cNvPr id="5" name="תמונה 4">
            <a:extLst>
              <a:ext uri="{FF2B5EF4-FFF2-40B4-BE49-F238E27FC236}">
                <a16:creationId xmlns:a16="http://schemas.microsoft.com/office/drawing/2014/main" id="{B4113C5D-EED9-49EB-2710-E6D935439F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3372" y="265637"/>
            <a:ext cx="10319254" cy="7246198"/>
          </a:xfrm>
          <a:prstGeom prst="rect">
            <a:avLst/>
          </a:prstGeom>
        </p:spPr>
      </p:pic>
      <p:pic>
        <p:nvPicPr>
          <p:cNvPr id="9" name="תמונה 8">
            <a:extLst>
              <a:ext uri="{FF2B5EF4-FFF2-40B4-BE49-F238E27FC236}">
                <a16:creationId xmlns:a16="http://schemas.microsoft.com/office/drawing/2014/main" id="{2A4B22BC-4D17-4B45-7644-5460C9EAB4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35" y="3176797"/>
            <a:ext cx="1791037" cy="3816285"/>
          </a:xfrm>
          <a:prstGeom prst="rect">
            <a:avLst/>
          </a:prstGeom>
        </p:spPr>
      </p:pic>
      <p:sp>
        <p:nvSpPr>
          <p:cNvPr id="4" name="תיבת טקסט 3">
            <a:extLst>
              <a:ext uri="{FF2B5EF4-FFF2-40B4-BE49-F238E27FC236}">
                <a16:creationId xmlns:a16="http://schemas.microsoft.com/office/drawing/2014/main" id="{1DAA9A5E-42FC-8846-6664-DB8528C099EF}"/>
              </a:ext>
            </a:extLst>
          </p:cNvPr>
          <p:cNvSpPr txBox="1"/>
          <p:nvPr/>
        </p:nvSpPr>
        <p:spPr>
          <a:xfrm>
            <a:off x="5747822" y="181959"/>
            <a:ext cx="4002831" cy="584775"/>
          </a:xfrm>
          <a:prstGeom prst="rect">
            <a:avLst/>
          </a:prstGeom>
          <a:noFill/>
        </p:spPr>
        <p:txBody>
          <a:bodyPr wrap="square" rtlCol="1">
            <a:spAutoFit/>
          </a:bodyPr>
          <a:lstStyle/>
          <a:p>
            <a:r>
              <a:rPr lang="en-US" sz="3200" b="1" i="1" dirty="0"/>
              <a:t>(DSD)</a:t>
            </a:r>
            <a:r>
              <a:rPr lang="he-IL" sz="3200" b="1" i="1" dirty="0"/>
              <a:t>דיאגרמת קשרים </a:t>
            </a:r>
          </a:p>
        </p:txBody>
      </p:sp>
    </p:spTree>
    <p:extLst>
      <p:ext uri="{BB962C8B-B14F-4D97-AF65-F5344CB8AC3E}">
        <p14:creationId xmlns:p14="http://schemas.microsoft.com/office/powerpoint/2010/main" val="3911031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AF82F5F1-A74A-FCCC-15BC-9D9EA84052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06364" cy="6900791"/>
          </a:xfrm>
          <a:prstGeom prst="rect">
            <a:avLst/>
          </a:prstGeom>
        </p:spPr>
      </p:pic>
      <p:sp>
        <p:nvSpPr>
          <p:cNvPr id="5" name="תיבת טקסט 4">
            <a:extLst>
              <a:ext uri="{FF2B5EF4-FFF2-40B4-BE49-F238E27FC236}">
                <a16:creationId xmlns:a16="http://schemas.microsoft.com/office/drawing/2014/main" id="{F2F17F5B-756D-3C5D-EF32-5981752872F7}"/>
              </a:ext>
            </a:extLst>
          </p:cNvPr>
          <p:cNvSpPr txBox="1"/>
          <p:nvPr/>
        </p:nvSpPr>
        <p:spPr>
          <a:xfrm>
            <a:off x="557505" y="962141"/>
            <a:ext cx="6097554" cy="2862322"/>
          </a:xfrm>
          <a:prstGeom prst="rect">
            <a:avLst/>
          </a:prstGeom>
          <a:noFill/>
        </p:spPr>
        <p:txBody>
          <a:bodyPr wrap="square">
            <a:spAutoFit/>
          </a:bodyPr>
          <a:lstStyle/>
          <a:p>
            <a:pPr algn="l"/>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Nurses</a:t>
            </a:r>
          </a:p>
          <a:p>
            <a:pPr algn="l"/>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a:p>
            <a:pPr algn="l"/>
            <a:r>
              <a:rPr lang="en-US" sz="1800" dirty="0" err="1">
                <a:solidFill>
                  <a:srgbClr val="000000"/>
                </a:solidFill>
                <a:latin typeface="Consolas" panose="020B0609020204030204" pitchFamily="49" charset="0"/>
              </a:rPr>
              <a:t>NursesCode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identity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primary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algn="l"/>
            <a:r>
              <a:rPr lang="en-US" sz="1800" dirty="0" err="1">
                <a:solidFill>
                  <a:srgbClr val="000000"/>
                </a:solidFill>
                <a:latin typeface="Consolas" panose="020B0609020204030204" pitchFamily="49" charset="0"/>
              </a:rPr>
              <a:t>N_id</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pPr algn="l"/>
            <a:r>
              <a:rPr lang="en-US" sz="1800" dirty="0" err="1">
                <a:solidFill>
                  <a:srgbClr val="000000"/>
                </a:solidFill>
                <a:latin typeface="Consolas" panose="020B0609020204030204" pitchFamily="49" charset="0"/>
              </a:rPr>
              <a:t>lname</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pPr algn="l"/>
            <a:r>
              <a:rPr lang="en-US" sz="1800" dirty="0" err="1">
                <a:solidFill>
                  <a:srgbClr val="000000"/>
                </a:solidFill>
                <a:latin typeface="Consolas" panose="020B0609020204030204" pitchFamily="49" charset="0"/>
              </a:rPr>
              <a:t>fname</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pPr algn="l"/>
            <a:r>
              <a:rPr lang="en-US" sz="1800" dirty="0" err="1">
                <a:solidFill>
                  <a:srgbClr val="000000"/>
                </a:solidFill>
                <a:latin typeface="Consolas" panose="020B0609020204030204" pitchFamily="49" charset="0"/>
              </a:rPr>
              <a:t>EntranceHour</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algn="l"/>
            <a:r>
              <a:rPr lang="en-US" sz="1800" dirty="0" err="1">
                <a:solidFill>
                  <a:srgbClr val="000000"/>
                </a:solidFill>
                <a:latin typeface="Consolas" panose="020B0609020204030204" pitchFamily="49" charset="0"/>
              </a:rPr>
              <a:t>ExitHour</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algn="l"/>
            <a:r>
              <a:rPr lang="en-US" sz="1800" dirty="0" err="1">
                <a:solidFill>
                  <a:srgbClr val="000000"/>
                </a:solidFill>
                <a:latin typeface="Consolas" panose="020B0609020204030204" pitchFamily="49" charset="0"/>
              </a:rPr>
              <a:t>NumRoom</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p>
          <a:p>
            <a:pPr algn="l"/>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p:txBody>
      </p:sp>
      <p:sp>
        <p:nvSpPr>
          <p:cNvPr id="8" name="תיבת טקסט 7">
            <a:extLst>
              <a:ext uri="{FF2B5EF4-FFF2-40B4-BE49-F238E27FC236}">
                <a16:creationId xmlns:a16="http://schemas.microsoft.com/office/drawing/2014/main" id="{DF33F318-CD73-948F-1754-9198AF178172}"/>
              </a:ext>
            </a:extLst>
          </p:cNvPr>
          <p:cNvSpPr txBox="1"/>
          <p:nvPr/>
        </p:nvSpPr>
        <p:spPr>
          <a:xfrm>
            <a:off x="8406881" y="638975"/>
            <a:ext cx="2537926" cy="646331"/>
          </a:xfrm>
          <a:prstGeom prst="rect">
            <a:avLst/>
          </a:prstGeom>
          <a:noFill/>
        </p:spPr>
        <p:txBody>
          <a:bodyPr wrap="square" rtlCol="1">
            <a:spAutoFit/>
          </a:bodyPr>
          <a:lstStyle/>
          <a:p>
            <a:r>
              <a:rPr lang="he-IL" sz="3600" b="1" i="1" dirty="0"/>
              <a:t>טבלת אחיות</a:t>
            </a:r>
          </a:p>
        </p:txBody>
      </p:sp>
      <p:pic>
        <p:nvPicPr>
          <p:cNvPr id="10" name="תמונה 9">
            <a:extLst>
              <a:ext uri="{FF2B5EF4-FFF2-40B4-BE49-F238E27FC236}">
                <a16:creationId xmlns:a16="http://schemas.microsoft.com/office/drawing/2014/main" id="{82922489-1D37-64C0-FFA8-8DB50386B2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1502" y="3216736"/>
            <a:ext cx="5772956" cy="2391109"/>
          </a:xfrm>
          <a:prstGeom prst="rect">
            <a:avLst/>
          </a:prstGeom>
        </p:spPr>
      </p:pic>
    </p:spTree>
    <p:extLst>
      <p:ext uri="{BB962C8B-B14F-4D97-AF65-F5344CB8AC3E}">
        <p14:creationId xmlns:p14="http://schemas.microsoft.com/office/powerpoint/2010/main" val="2700794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C759DDE9-B2B0-2C57-F36B-FE97D8EED5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64" y="-21396"/>
            <a:ext cx="12206364" cy="6900791"/>
          </a:xfrm>
          <a:prstGeom prst="rect">
            <a:avLst/>
          </a:prstGeom>
        </p:spPr>
      </p:pic>
      <p:sp>
        <p:nvSpPr>
          <p:cNvPr id="5" name="תיבת טקסט 4">
            <a:extLst>
              <a:ext uri="{FF2B5EF4-FFF2-40B4-BE49-F238E27FC236}">
                <a16:creationId xmlns:a16="http://schemas.microsoft.com/office/drawing/2014/main" id="{5563A844-A646-D195-5B0E-E5660724769E}"/>
              </a:ext>
            </a:extLst>
          </p:cNvPr>
          <p:cNvSpPr txBox="1"/>
          <p:nvPr/>
        </p:nvSpPr>
        <p:spPr>
          <a:xfrm>
            <a:off x="8257592" y="722950"/>
            <a:ext cx="2817845" cy="646331"/>
          </a:xfrm>
          <a:prstGeom prst="rect">
            <a:avLst/>
          </a:prstGeom>
          <a:noFill/>
        </p:spPr>
        <p:txBody>
          <a:bodyPr wrap="square" rtlCol="1">
            <a:spAutoFit/>
          </a:bodyPr>
          <a:lstStyle/>
          <a:p>
            <a:r>
              <a:rPr lang="he-IL" sz="3600" b="1" i="1" dirty="0"/>
              <a:t>טבלת חדרים</a:t>
            </a:r>
          </a:p>
        </p:txBody>
      </p:sp>
      <p:sp>
        <p:nvSpPr>
          <p:cNvPr id="7" name="תיבת טקסט 6">
            <a:extLst>
              <a:ext uri="{FF2B5EF4-FFF2-40B4-BE49-F238E27FC236}">
                <a16:creationId xmlns:a16="http://schemas.microsoft.com/office/drawing/2014/main" id="{DF96C87D-44CF-4ABE-8D09-8A2AEAA1745C}"/>
              </a:ext>
            </a:extLst>
          </p:cNvPr>
          <p:cNvSpPr txBox="1"/>
          <p:nvPr/>
        </p:nvSpPr>
        <p:spPr>
          <a:xfrm>
            <a:off x="338235" y="1046115"/>
            <a:ext cx="6181530" cy="3693319"/>
          </a:xfrm>
          <a:prstGeom prst="rect">
            <a:avLst/>
          </a:prstGeom>
          <a:noFill/>
        </p:spPr>
        <p:txBody>
          <a:bodyPr wrap="square">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Rooms</a:t>
            </a:r>
          </a:p>
          <a:p>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NumRoom</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identity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primary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NumBed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FloorRoom</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NursesCode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vip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bit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CostRoom</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float</a:t>
            </a:r>
            <a:endParaRPr lang="en-US" sz="1800" dirty="0">
              <a:solidFill>
                <a:srgbClr val="000000"/>
              </a:solidFill>
              <a:latin typeface="Consolas" panose="020B0609020204030204" pitchFamily="49" charset="0"/>
            </a:endParaRPr>
          </a:p>
          <a:p>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constraint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fk_NursesRoom</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foreign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NursesCode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References</a:t>
            </a:r>
            <a:r>
              <a:rPr lang="en-US" sz="1800" dirty="0">
                <a:solidFill>
                  <a:srgbClr val="000000"/>
                </a:solidFill>
                <a:latin typeface="Consolas" panose="020B0609020204030204" pitchFamily="49" charset="0"/>
              </a:rPr>
              <a:t> Nurses</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NursesCode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p:txBody>
      </p:sp>
      <p:pic>
        <p:nvPicPr>
          <p:cNvPr id="14" name="תמונה 13">
            <a:extLst>
              <a:ext uri="{FF2B5EF4-FFF2-40B4-BE49-F238E27FC236}">
                <a16:creationId xmlns:a16="http://schemas.microsoft.com/office/drawing/2014/main" id="{E6F03774-AF1F-623B-1130-8BF7739C6A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8260" y="3891477"/>
            <a:ext cx="6181530" cy="2356771"/>
          </a:xfrm>
          <a:prstGeom prst="rect">
            <a:avLst/>
          </a:prstGeom>
        </p:spPr>
      </p:pic>
    </p:spTree>
    <p:extLst>
      <p:ext uri="{BB962C8B-B14F-4D97-AF65-F5344CB8AC3E}">
        <p14:creationId xmlns:p14="http://schemas.microsoft.com/office/powerpoint/2010/main" val="1930762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C94E560F-D1F0-B4A2-CAD7-BBEA56F7F4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2" y="-42791"/>
            <a:ext cx="12206364" cy="6900791"/>
          </a:xfrm>
          <a:prstGeom prst="rect">
            <a:avLst/>
          </a:prstGeom>
        </p:spPr>
      </p:pic>
      <p:sp>
        <p:nvSpPr>
          <p:cNvPr id="5" name="תיבת טקסט 4">
            <a:extLst>
              <a:ext uri="{FF2B5EF4-FFF2-40B4-BE49-F238E27FC236}">
                <a16:creationId xmlns:a16="http://schemas.microsoft.com/office/drawing/2014/main" id="{10FFC494-3201-35A8-CD01-6C029324AA60}"/>
              </a:ext>
            </a:extLst>
          </p:cNvPr>
          <p:cNvSpPr txBox="1"/>
          <p:nvPr/>
        </p:nvSpPr>
        <p:spPr>
          <a:xfrm>
            <a:off x="6096000" y="480354"/>
            <a:ext cx="4945225" cy="646331"/>
          </a:xfrm>
          <a:prstGeom prst="rect">
            <a:avLst/>
          </a:prstGeom>
          <a:noFill/>
        </p:spPr>
        <p:txBody>
          <a:bodyPr wrap="square" rtlCol="1">
            <a:spAutoFit/>
          </a:bodyPr>
          <a:lstStyle/>
          <a:p>
            <a:r>
              <a:rPr lang="he-IL" sz="3600" b="1" i="1" dirty="0"/>
              <a:t>טבלת השכרת ציוד רפואי</a:t>
            </a:r>
          </a:p>
        </p:txBody>
      </p:sp>
      <p:sp>
        <p:nvSpPr>
          <p:cNvPr id="7" name="תיבת טקסט 6">
            <a:extLst>
              <a:ext uri="{FF2B5EF4-FFF2-40B4-BE49-F238E27FC236}">
                <a16:creationId xmlns:a16="http://schemas.microsoft.com/office/drawing/2014/main" id="{4D89E439-6AE5-C417-207C-AD4A1FA043AA}"/>
              </a:ext>
            </a:extLst>
          </p:cNvPr>
          <p:cNvSpPr txBox="1"/>
          <p:nvPr/>
        </p:nvSpPr>
        <p:spPr>
          <a:xfrm>
            <a:off x="345232" y="1505062"/>
            <a:ext cx="6102220" cy="2308324"/>
          </a:xfrm>
          <a:prstGeom prst="rect">
            <a:avLst/>
          </a:prstGeom>
          <a:noFill/>
        </p:spPr>
        <p:txBody>
          <a:bodyPr wrap="square">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Equipment</a:t>
            </a:r>
          </a:p>
          <a:p>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PCode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primary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PName</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PDate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date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PPrice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CountAvailabil</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endParaRPr lang="en-US" sz="1800" dirty="0">
              <a:solidFill>
                <a:srgbClr val="000000"/>
              </a:solidFill>
              <a:latin typeface="Consolas" panose="020B0609020204030204" pitchFamily="49" charset="0"/>
            </a:endParaRPr>
          </a:p>
          <a:p>
            <a:r>
              <a:rPr lang="he-IL" sz="1800" dirty="0">
                <a:solidFill>
                  <a:srgbClr val="808080"/>
                </a:solidFill>
                <a:latin typeface="Consolas" panose="020B0609020204030204" pitchFamily="49" charset="0"/>
              </a:rPr>
              <a:t>)</a:t>
            </a:r>
            <a:endParaRPr lang="he-IL" dirty="0"/>
          </a:p>
        </p:txBody>
      </p:sp>
      <p:pic>
        <p:nvPicPr>
          <p:cNvPr id="8" name="תמונה 7">
            <a:extLst>
              <a:ext uri="{FF2B5EF4-FFF2-40B4-BE49-F238E27FC236}">
                <a16:creationId xmlns:a16="http://schemas.microsoft.com/office/drawing/2014/main" id="{307D0DDB-B59A-667A-BD21-CF47A40B0C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4333" y="3429000"/>
            <a:ext cx="5849166" cy="1971950"/>
          </a:xfrm>
          <a:prstGeom prst="rect">
            <a:avLst/>
          </a:prstGeom>
        </p:spPr>
      </p:pic>
    </p:spTree>
    <p:extLst>
      <p:ext uri="{BB962C8B-B14F-4D97-AF65-F5344CB8AC3E}">
        <p14:creationId xmlns:p14="http://schemas.microsoft.com/office/powerpoint/2010/main" val="597457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377AF3DF-8DAB-5BCD-C00A-BFBA4BD4DF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2" y="0"/>
            <a:ext cx="12206364" cy="6900791"/>
          </a:xfrm>
          <a:prstGeom prst="rect">
            <a:avLst/>
          </a:prstGeom>
        </p:spPr>
      </p:pic>
      <p:sp>
        <p:nvSpPr>
          <p:cNvPr id="5" name="תיבת טקסט 4">
            <a:extLst>
              <a:ext uri="{FF2B5EF4-FFF2-40B4-BE49-F238E27FC236}">
                <a16:creationId xmlns:a16="http://schemas.microsoft.com/office/drawing/2014/main" id="{3AFFC797-296C-7EC2-1CC4-D69237CF2435}"/>
              </a:ext>
            </a:extLst>
          </p:cNvPr>
          <p:cNvSpPr txBox="1"/>
          <p:nvPr/>
        </p:nvSpPr>
        <p:spPr>
          <a:xfrm>
            <a:off x="7949682" y="638975"/>
            <a:ext cx="2995125" cy="646331"/>
          </a:xfrm>
          <a:prstGeom prst="rect">
            <a:avLst/>
          </a:prstGeom>
          <a:noFill/>
        </p:spPr>
        <p:txBody>
          <a:bodyPr wrap="square" rtlCol="1">
            <a:spAutoFit/>
          </a:bodyPr>
          <a:lstStyle/>
          <a:p>
            <a:r>
              <a:rPr lang="he-IL" sz="3600" b="1" i="1" dirty="0"/>
              <a:t>טבלת פעילויות</a:t>
            </a:r>
          </a:p>
        </p:txBody>
      </p:sp>
      <p:sp>
        <p:nvSpPr>
          <p:cNvPr id="7" name="תיבת טקסט 6">
            <a:extLst>
              <a:ext uri="{FF2B5EF4-FFF2-40B4-BE49-F238E27FC236}">
                <a16:creationId xmlns:a16="http://schemas.microsoft.com/office/drawing/2014/main" id="{01F4BCDB-9E93-BA7D-9CF9-4061AB2F6EC2}"/>
              </a:ext>
            </a:extLst>
          </p:cNvPr>
          <p:cNvSpPr txBox="1"/>
          <p:nvPr/>
        </p:nvSpPr>
        <p:spPr>
          <a:xfrm>
            <a:off x="326571" y="1375895"/>
            <a:ext cx="6176864" cy="2585323"/>
          </a:xfrm>
          <a:prstGeom prst="rect">
            <a:avLst/>
          </a:prstGeom>
          <a:noFill/>
        </p:spPr>
        <p:txBody>
          <a:bodyPr wrap="square">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Activities</a:t>
            </a:r>
          </a:p>
          <a:p>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CodeAct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identity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100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3</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primary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typeA</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DayA</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CountP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HourAct</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DurationOfActivity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endParaRPr lang="en-US" sz="1800" dirty="0">
              <a:solidFill>
                <a:srgbClr val="000000"/>
              </a:solidFill>
              <a:latin typeface="Consolas" panose="020B0609020204030204" pitchFamily="49" charset="0"/>
            </a:endParaRPr>
          </a:p>
          <a:p>
            <a:r>
              <a:rPr lang="he-IL" sz="1800" dirty="0">
                <a:solidFill>
                  <a:srgbClr val="808080"/>
                </a:solidFill>
                <a:latin typeface="Consolas" panose="020B0609020204030204" pitchFamily="49" charset="0"/>
              </a:rPr>
              <a:t>)</a:t>
            </a:r>
            <a:endParaRPr lang="he-IL" dirty="0"/>
          </a:p>
        </p:txBody>
      </p:sp>
      <p:pic>
        <p:nvPicPr>
          <p:cNvPr id="3" name="תמונה 2">
            <a:extLst>
              <a:ext uri="{FF2B5EF4-FFF2-40B4-BE49-F238E27FC236}">
                <a16:creationId xmlns:a16="http://schemas.microsoft.com/office/drawing/2014/main" id="{02C7BE25-EF07-27AA-048F-C5A3382634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664" y="3389439"/>
            <a:ext cx="5849166" cy="2210108"/>
          </a:xfrm>
          <a:prstGeom prst="rect">
            <a:avLst/>
          </a:prstGeom>
        </p:spPr>
      </p:pic>
    </p:spTree>
    <p:extLst>
      <p:ext uri="{BB962C8B-B14F-4D97-AF65-F5344CB8AC3E}">
        <p14:creationId xmlns:p14="http://schemas.microsoft.com/office/powerpoint/2010/main" val="2825103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72350CAF-228D-0241-2F70-E4622852DE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64" y="0"/>
            <a:ext cx="12206364" cy="6900791"/>
          </a:xfrm>
          <a:prstGeom prst="rect">
            <a:avLst/>
          </a:prstGeom>
        </p:spPr>
      </p:pic>
      <p:sp>
        <p:nvSpPr>
          <p:cNvPr id="5" name="תיבת טקסט 4">
            <a:extLst>
              <a:ext uri="{FF2B5EF4-FFF2-40B4-BE49-F238E27FC236}">
                <a16:creationId xmlns:a16="http://schemas.microsoft.com/office/drawing/2014/main" id="{23333929-D684-B84F-ECEC-E78F0A08C7E7}"/>
              </a:ext>
            </a:extLst>
          </p:cNvPr>
          <p:cNvSpPr txBox="1"/>
          <p:nvPr/>
        </p:nvSpPr>
        <p:spPr>
          <a:xfrm>
            <a:off x="7875037" y="638975"/>
            <a:ext cx="3069770" cy="646331"/>
          </a:xfrm>
          <a:prstGeom prst="rect">
            <a:avLst/>
          </a:prstGeom>
          <a:noFill/>
        </p:spPr>
        <p:txBody>
          <a:bodyPr wrap="square" rtlCol="1">
            <a:spAutoFit/>
          </a:bodyPr>
          <a:lstStyle/>
          <a:p>
            <a:r>
              <a:rPr lang="he-IL" sz="3600" b="1" i="1" dirty="0"/>
              <a:t>טבלת מטופלים</a:t>
            </a:r>
          </a:p>
        </p:txBody>
      </p:sp>
      <p:sp>
        <p:nvSpPr>
          <p:cNvPr id="7" name="תיבת טקסט 6">
            <a:extLst>
              <a:ext uri="{FF2B5EF4-FFF2-40B4-BE49-F238E27FC236}">
                <a16:creationId xmlns:a16="http://schemas.microsoft.com/office/drawing/2014/main" id="{5659C93D-4751-0AD1-1445-613F6E95A886}"/>
              </a:ext>
            </a:extLst>
          </p:cNvPr>
          <p:cNvSpPr txBox="1"/>
          <p:nvPr/>
        </p:nvSpPr>
        <p:spPr>
          <a:xfrm>
            <a:off x="179615" y="284465"/>
            <a:ext cx="7023618" cy="6463308"/>
          </a:xfrm>
          <a:prstGeom prst="rect">
            <a:avLst/>
          </a:prstGeom>
          <a:noFill/>
        </p:spPr>
        <p:txBody>
          <a:bodyPr wrap="square">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Patients</a:t>
            </a:r>
          </a:p>
          <a:p>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P_Id</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primary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Fname</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Lname</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Birthdate </a:t>
            </a:r>
            <a:r>
              <a:rPr lang="en-US" sz="1800" dirty="0">
                <a:solidFill>
                  <a:srgbClr val="0000FF"/>
                </a:solidFill>
                <a:latin typeface="Consolas" panose="020B0609020204030204" pitchFamily="49" charset="0"/>
              </a:rPr>
              <a:t>date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P_Address</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P_Phone</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ActCode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PayMent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float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ProductCode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NumRoom</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endParaRPr lang="en-US" sz="1800" dirty="0">
              <a:solidFill>
                <a:srgbClr val="000000"/>
              </a:solidFill>
              <a:latin typeface="Consolas" panose="020B0609020204030204" pitchFamily="49" charset="0"/>
            </a:endParaRPr>
          </a:p>
          <a:p>
            <a:r>
              <a:rPr lang="he-IL"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constraint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fk_patientActivities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foreign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ActCode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References</a:t>
            </a:r>
            <a:r>
              <a:rPr lang="en-US" sz="1800" dirty="0">
                <a:solidFill>
                  <a:srgbClr val="000000"/>
                </a:solidFill>
                <a:latin typeface="Consolas" panose="020B0609020204030204" pitchFamily="49" charset="0"/>
              </a:rPr>
              <a:t>  Activities</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CodeAct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he-IL"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constraint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fk_patientEquipment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foreign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ProductCode</a:t>
            </a:r>
            <a:r>
              <a:rPr lang="en-US" sz="1800" dirty="0">
                <a:solidFill>
                  <a:srgbClr val="808080"/>
                </a:solidFill>
                <a:latin typeface="Consolas" panose="020B0609020204030204" pitchFamily="49" charset="0"/>
              </a:rPr>
              <a:t>) </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References</a:t>
            </a:r>
            <a:r>
              <a:rPr lang="en-US" sz="1800" dirty="0">
                <a:solidFill>
                  <a:srgbClr val="000000"/>
                </a:solidFill>
                <a:latin typeface="Consolas" panose="020B0609020204030204" pitchFamily="49" charset="0"/>
              </a:rPr>
              <a:t>  Equipment</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PCode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he-IL"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constraint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fk_patientNumRoom</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foreign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NumRoom</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References</a:t>
            </a:r>
            <a:r>
              <a:rPr lang="en-US" sz="1800" dirty="0">
                <a:solidFill>
                  <a:srgbClr val="000000"/>
                </a:solidFill>
                <a:latin typeface="Consolas" panose="020B0609020204030204" pitchFamily="49" charset="0"/>
              </a:rPr>
              <a:t>  Rooms</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NumRoom</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p:txBody>
      </p:sp>
      <p:pic>
        <p:nvPicPr>
          <p:cNvPr id="2" name="תמונה 1">
            <a:extLst>
              <a:ext uri="{FF2B5EF4-FFF2-40B4-BE49-F238E27FC236}">
                <a16:creationId xmlns:a16="http://schemas.microsoft.com/office/drawing/2014/main" id="{192E7D0E-7C69-69ED-C19F-E35B5A0864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7893" y="3685769"/>
            <a:ext cx="5194107" cy="2813121"/>
          </a:xfrm>
          <a:prstGeom prst="rect">
            <a:avLst/>
          </a:prstGeom>
        </p:spPr>
      </p:pic>
    </p:spTree>
    <p:extLst>
      <p:ext uri="{BB962C8B-B14F-4D97-AF65-F5344CB8AC3E}">
        <p14:creationId xmlns:p14="http://schemas.microsoft.com/office/powerpoint/2010/main" val="2925653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תמונה 8">
            <a:extLst>
              <a:ext uri="{FF2B5EF4-FFF2-40B4-BE49-F238E27FC236}">
                <a16:creationId xmlns:a16="http://schemas.microsoft.com/office/drawing/2014/main" id="{076CFBD5-649D-087B-1FBB-F09CB260E1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64" y="0"/>
            <a:ext cx="12206364" cy="6900791"/>
          </a:xfrm>
          <a:prstGeom prst="rect">
            <a:avLst/>
          </a:prstGeom>
        </p:spPr>
      </p:pic>
      <p:sp>
        <p:nvSpPr>
          <p:cNvPr id="2" name="כותרת 1">
            <a:extLst>
              <a:ext uri="{FF2B5EF4-FFF2-40B4-BE49-F238E27FC236}">
                <a16:creationId xmlns:a16="http://schemas.microsoft.com/office/drawing/2014/main" id="{4EC2330C-A35F-0318-A56F-2DB26074360A}"/>
              </a:ext>
            </a:extLst>
          </p:cNvPr>
          <p:cNvSpPr>
            <a:spLocks noGrp="1"/>
          </p:cNvSpPr>
          <p:nvPr>
            <p:ph type="title"/>
          </p:nvPr>
        </p:nvSpPr>
        <p:spPr>
          <a:xfrm>
            <a:off x="8521959" y="358425"/>
            <a:ext cx="2352869" cy="1325563"/>
          </a:xfrm>
        </p:spPr>
        <p:txBody>
          <a:bodyPr/>
          <a:lstStyle/>
          <a:p>
            <a:r>
              <a:rPr lang="he-IL" b="1" i="1" dirty="0">
                <a:solidFill>
                  <a:schemeClr val="tx2">
                    <a:lumMod val="60000"/>
                    <a:lumOff val="40000"/>
                  </a:schemeClr>
                </a:solidFill>
                <a:latin typeface="Arial" panose="020B0604020202020204" pitchFamily="34" charset="0"/>
                <a:cs typeface="Arial" panose="020B0604020202020204" pitchFamily="34" charset="0"/>
              </a:rPr>
              <a:t>שאילתות</a:t>
            </a:r>
          </a:p>
        </p:txBody>
      </p:sp>
      <p:sp>
        <p:nvSpPr>
          <p:cNvPr id="6" name="תיבת טקסט 5">
            <a:extLst>
              <a:ext uri="{FF2B5EF4-FFF2-40B4-BE49-F238E27FC236}">
                <a16:creationId xmlns:a16="http://schemas.microsoft.com/office/drawing/2014/main" id="{86170FEA-1218-2900-FB22-763FDC6A7140}"/>
              </a:ext>
            </a:extLst>
          </p:cNvPr>
          <p:cNvSpPr txBox="1"/>
          <p:nvPr/>
        </p:nvSpPr>
        <p:spPr>
          <a:xfrm>
            <a:off x="6292724" y="1511559"/>
            <a:ext cx="4941334" cy="646331"/>
          </a:xfrm>
          <a:prstGeom prst="rect">
            <a:avLst/>
          </a:prstGeom>
          <a:noFill/>
        </p:spPr>
        <p:txBody>
          <a:bodyPr wrap="square" rtlCol="1">
            <a:spAutoFit/>
          </a:bodyPr>
          <a:lstStyle/>
          <a:p>
            <a:r>
              <a:rPr lang="he-IL" dirty="0"/>
              <a:t>1.  שאילה שמציגה אנשים שהשכירו כיסא גלגלים.</a:t>
            </a:r>
          </a:p>
          <a:p>
            <a:endParaRPr lang="he-IL" dirty="0"/>
          </a:p>
        </p:txBody>
      </p:sp>
      <p:sp>
        <p:nvSpPr>
          <p:cNvPr id="8" name="תיבת טקסט 7">
            <a:extLst>
              <a:ext uri="{FF2B5EF4-FFF2-40B4-BE49-F238E27FC236}">
                <a16:creationId xmlns:a16="http://schemas.microsoft.com/office/drawing/2014/main" id="{2F1269DB-7BBC-4FD8-5C63-9BC934C79CFD}"/>
              </a:ext>
            </a:extLst>
          </p:cNvPr>
          <p:cNvSpPr txBox="1"/>
          <p:nvPr/>
        </p:nvSpPr>
        <p:spPr>
          <a:xfrm>
            <a:off x="597159" y="1961089"/>
            <a:ext cx="5302120" cy="1200329"/>
          </a:xfrm>
          <a:prstGeom prst="rect">
            <a:avLst/>
          </a:prstGeom>
          <a:noFill/>
        </p:spPr>
        <p:txBody>
          <a:bodyPr wrap="square">
            <a:spAutoFit/>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P_Id</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Fname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Lname</a:t>
            </a:r>
            <a:r>
              <a:rPr lang="en-US" sz="1800"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Patients p </a:t>
            </a:r>
            <a:r>
              <a:rPr lang="en-US" sz="1800" dirty="0">
                <a:solidFill>
                  <a:srgbClr val="808080"/>
                </a:solidFill>
                <a:latin typeface="Consolas" panose="020B0609020204030204" pitchFamily="49" charset="0"/>
              </a:rPr>
              <a:t>inner</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join</a:t>
            </a:r>
            <a:r>
              <a:rPr lang="en-US" sz="1800" dirty="0">
                <a:solidFill>
                  <a:srgbClr val="000000"/>
                </a:solidFill>
                <a:latin typeface="Consolas" panose="020B0609020204030204" pitchFamily="49" charset="0"/>
              </a:rPr>
              <a:t> Equipment E </a:t>
            </a:r>
          </a:p>
          <a:p>
            <a:r>
              <a:rPr lang="en-US"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ProductCode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PCode</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ProductCode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43                 </a:t>
            </a:r>
          </a:p>
        </p:txBody>
      </p:sp>
      <p:pic>
        <p:nvPicPr>
          <p:cNvPr id="11" name="תמונה 10">
            <a:extLst>
              <a:ext uri="{FF2B5EF4-FFF2-40B4-BE49-F238E27FC236}">
                <a16:creationId xmlns:a16="http://schemas.microsoft.com/office/drawing/2014/main" id="{B58CCA03-2D57-6973-3F3F-22BDA69AE3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9227" y="4362779"/>
            <a:ext cx="3603829" cy="1384878"/>
          </a:xfrm>
          <a:prstGeom prst="rect">
            <a:avLst/>
          </a:prstGeom>
        </p:spPr>
      </p:pic>
      <p:sp>
        <p:nvSpPr>
          <p:cNvPr id="12" name="תיבת טקסט 11">
            <a:extLst>
              <a:ext uri="{FF2B5EF4-FFF2-40B4-BE49-F238E27FC236}">
                <a16:creationId xmlns:a16="http://schemas.microsoft.com/office/drawing/2014/main" id="{5C84FE22-A943-9DCC-F6C0-F48632EE2F73}"/>
              </a:ext>
            </a:extLst>
          </p:cNvPr>
          <p:cNvSpPr txBox="1"/>
          <p:nvPr/>
        </p:nvSpPr>
        <p:spPr>
          <a:xfrm>
            <a:off x="9391261" y="3851596"/>
            <a:ext cx="1483567" cy="369332"/>
          </a:xfrm>
          <a:prstGeom prst="rect">
            <a:avLst/>
          </a:prstGeom>
          <a:noFill/>
        </p:spPr>
        <p:txBody>
          <a:bodyPr wrap="square" rtlCol="1">
            <a:spAutoFit/>
          </a:bodyPr>
          <a:lstStyle/>
          <a:p>
            <a:r>
              <a:rPr lang="he-IL" dirty="0"/>
              <a:t>דוגמא לפלט:</a:t>
            </a:r>
          </a:p>
        </p:txBody>
      </p:sp>
    </p:spTree>
    <p:extLst>
      <p:ext uri="{BB962C8B-B14F-4D97-AF65-F5344CB8AC3E}">
        <p14:creationId xmlns:p14="http://schemas.microsoft.com/office/powerpoint/2010/main" val="2235720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9F5F5500-FE21-4BB8-3A80-71F244A4A8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8" y="-121298"/>
            <a:ext cx="12237027" cy="7100596"/>
          </a:xfrm>
          <a:prstGeom prst="rect">
            <a:avLst/>
          </a:prstGeom>
        </p:spPr>
      </p:pic>
      <p:sp>
        <p:nvSpPr>
          <p:cNvPr id="5" name="כותרת 1">
            <a:extLst>
              <a:ext uri="{FF2B5EF4-FFF2-40B4-BE49-F238E27FC236}">
                <a16:creationId xmlns:a16="http://schemas.microsoft.com/office/drawing/2014/main" id="{03A60AB2-7713-26A6-FC0F-B62B1A8D826A}"/>
              </a:ext>
            </a:extLst>
          </p:cNvPr>
          <p:cNvSpPr txBox="1">
            <a:spLocks/>
          </p:cNvSpPr>
          <p:nvPr/>
        </p:nvSpPr>
        <p:spPr>
          <a:xfrm>
            <a:off x="530290" y="263133"/>
            <a:ext cx="105156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שאילתות</a:t>
            </a:r>
          </a:p>
        </p:txBody>
      </p:sp>
      <p:sp>
        <p:nvSpPr>
          <p:cNvPr id="7" name="תיבת טקסט 6">
            <a:extLst>
              <a:ext uri="{FF2B5EF4-FFF2-40B4-BE49-F238E27FC236}">
                <a16:creationId xmlns:a16="http://schemas.microsoft.com/office/drawing/2014/main" id="{4E27FF59-AABF-628F-C120-E5292F2C3996}"/>
              </a:ext>
            </a:extLst>
          </p:cNvPr>
          <p:cNvSpPr txBox="1"/>
          <p:nvPr/>
        </p:nvSpPr>
        <p:spPr>
          <a:xfrm>
            <a:off x="391886" y="2098361"/>
            <a:ext cx="6116216" cy="1200329"/>
          </a:xfrm>
          <a:prstGeom prst="rect">
            <a:avLst/>
          </a:prstGeom>
          <a:noFill/>
        </p:spPr>
        <p:txBody>
          <a:bodyPr wrap="square">
            <a:spAutoFit/>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Lname</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typeA</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Activities A </a:t>
            </a:r>
            <a:r>
              <a:rPr lang="en-US" sz="1800" dirty="0">
                <a:solidFill>
                  <a:srgbClr val="808080"/>
                </a:solidFill>
                <a:latin typeface="Consolas" panose="020B0609020204030204" pitchFamily="49" charset="0"/>
              </a:rPr>
              <a:t>inner</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join</a:t>
            </a:r>
            <a:r>
              <a:rPr lang="en-US" sz="1800" dirty="0">
                <a:solidFill>
                  <a:srgbClr val="000000"/>
                </a:solidFill>
                <a:latin typeface="Consolas" panose="020B0609020204030204" pitchFamily="49" charset="0"/>
              </a:rPr>
              <a:t> Patients P   </a:t>
            </a:r>
          </a:p>
          <a:p>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CodeAct</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ActCode</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group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typeA</a:t>
            </a:r>
            <a:r>
              <a:rPr lang="en-US" sz="1800" dirty="0">
                <a:solidFill>
                  <a:srgbClr val="000000"/>
                </a:solidFill>
                <a:latin typeface="Consolas" panose="020B0609020204030204" pitchFamily="49" charset="0"/>
              </a:rPr>
              <a:t>                            </a:t>
            </a:r>
            <a:r>
              <a:rPr lang="he-IL" sz="1800" dirty="0">
                <a:solidFill>
                  <a:srgbClr val="000000"/>
                </a:solidFill>
                <a:latin typeface="Consolas" panose="020B0609020204030204" pitchFamily="49" charset="0"/>
              </a:rPr>
              <a:t>       </a:t>
            </a:r>
            <a:endParaRPr lang="he-IL" dirty="0"/>
          </a:p>
        </p:txBody>
      </p:sp>
      <p:sp>
        <p:nvSpPr>
          <p:cNvPr id="10" name="תיבת טקסט 9">
            <a:extLst>
              <a:ext uri="{FF2B5EF4-FFF2-40B4-BE49-F238E27FC236}">
                <a16:creationId xmlns:a16="http://schemas.microsoft.com/office/drawing/2014/main" id="{36327B31-CFAB-0BD4-60B9-0F132563A98A}"/>
              </a:ext>
            </a:extLst>
          </p:cNvPr>
          <p:cNvSpPr txBox="1"/>
          <p:nvPr/>
        </p:nvSpPr>
        <p:spPr>
          <a:xfrm>
            <a:off x="5598367" y="1404030"/>
            <a:ext cx="5691673" cy="369332"/>
          </a:xfrm>
          <a:prstGeom prst="rect">
            <a:avLst/>
          </a:prstGeom>
          <a:noFill/>
        </p:spPr>
        <p:txBody>
          <a:bodyPr wrap="square" rtlCol="1">
            <a:spAutoFit/>
          </a:bodyPr>
          <a:lstStyle/>
          <a:p>
            <a:r>
              <a:rPr lang="he-IL" dirty="0"/>
              <a:t>2. מציג את סוג הפעילות ואת מספר המטופלים הרשומים אליה.</a:t>
            </a:r>
          </a:p>
        </p:txBody>
      </p:sp>
      <p:sp>
        <p:nvSpPr>
          <p:cNvPr id="11" name="תיבת טקסט 10">
            <a:extLst>
              <a:ext uri="{FF2B5EF4-FFF2-40B4-BE49-F238E27FC236}">
                <a16:creationId xmlns:a16="http://schemas.microsoft.com/office/drawing/2014/main" id="{71AF8A38-A5C4-00E4-2A02-D1E92BC54CD2}"/>
              </a:ext>
            </a:extLst>
          </p:cNvPr>
          <p:cNvSpPr txBox="1"/>
          <p:nvPr/>
        </p:nvSpPr>
        <p:spPr>
          <a:xfrm>
            <a:off x="9181322" y="3538418"/>
            <a:ext cx="1380931" cy="369332"/>
          </a:xfrm>
          <a:prstGeom prst="rect">
            <a:avLst/>
          </a:prstGeom>
          <a:noFill/>
        </p:spPr>
        <p:txBody>
          <a:bodyPr wrap="square" rtlCol="1">
            <a:spAutoFit/>
          </a:bodyPr>
          <a:lstStyle/>
          <a:p>
            <a:r>
              <a:rPr lang="he-IL" dirty="0"/>
              <a:t>דוגמא לפלט:</a:t>
            </a:r>
          </a:p>
        </p:txBody>
      </p:sp>
      <p:pic>
        <p:nvPicPr>
          <p:cNvPr id="13" name="תמונה 12">
            <a:extLst>
              <a:ext uri="{FF2B5EF4-FFF2-40B4-BE49-F238E27FC236}">
                <a16:creationId xmlns:a16="http://schemas.microsoft.com/office/drawing/2014/main" id="{70D9C010-9423-3540-8D11-4DDC70E103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4933" y="4093794"/>
            <a:ext cx="3487320" cy="2089023"/>
          </a:xfrm>
          <a:prstGeom prst="rect">
            <a:avLst/>
          </a:prstGeom>
        </p:spPr>
      </p:pic>
    </p:spTree>
    <p:extLst>
      <p:ext uri="{BB962C8B-B14F-4D97-AF65-F5344CB8AC3E}">
        <p14:creationId xmlns:p14="http://schemas.microsoft.com/office/powerpoint/2010/main" val="2963022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79E814AD-09C3-DEF9-EDC9-3AC043673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27" y="0"/>
            <a:ext cx="12237027" cy="7100596"/>
          </a:xfrm>
          <a:prstGeom prst="rect">
            <a:avLst/>
          </a:prstGeom>
        </p:spPr>
      </p:pic>
      <p:sp>
        <p:nvSpPr>
          <p:cNvPr id="7" name="כותרת 1">
            <a:extLst>
              <a:ext uri="{FF2B5EF4-FFF2-40B4-BE49-F238E27FC236}">
                <a16:creationId xmlns:a16="http://schemas.microsoft.com/office/drawing/2014/main" id="{0FDF93BF-0ED2-75DE-F068-EBDECA5233F8}"/>
              </a:ext>
            </a:extLst>
          </p:cNvPr>
          <p:cNvSpPr txBox="1">
            <a:spLocks/>
          </p:cNvSpPr>
          <p:nvPr/>
        </p:nvSpPr>
        <p:spPr>
          <a:xfrm>
            <a:off x="530290" y="263133"/>
            <a:ext cx="105156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שאילתות</a:t>
            </a:r>
          </a:p>
        </p:txBody>
      </p:sp>
      <p:sp>
        <p:nvSpPr>
          <p:cNvPr id="8" name="תיבת טקסט 7">
            <a:extLst>
              <a:ext uri="{FF2B5EF4-FFF2-40B4-BE49-F238E27FC236}">
                <a16:creationId xmlns:a16="http://schemas.microsoft.com/office/drawing/2014/main" id="{231DFBFB-5051-DD58-B87D-6AF9594E5959}"/>
              </a:ext>
            </a:extLst>
          </p:cNvPr>
          <p:cNvSpPr txBox="1"/>
          <p:nvPr/>
        </p:nvSpPr>
        <p:spPr>
          <a:xfrm>
            <a:off x="9657184" y="3904861"/>
            <a:ext cx="1388706" cy="369332"/>
          </a:xfrm>
          <a:prstGeom prst="rect">
            <a:avLst/>
          </a:prstGeom>
          <a:noFill/>
        </p:spPr>
        <p:txBody>
          <a:bodyPr wrap="square" rtlCol="1">
            <a:spAutoFit/>
          </a:bodyPr>
          <a:lstStyle/>
          <a:p>
            <a:r>
              <a:rPr lang="he-IL" dirty="0"/>
              <a:t>דוגמא לפלט:</a:t>
            </a:r>
          </a:p>
        </p:txBody>
      </p:sp>
      <p:sp>
        <p:nvSpPr>
          <p:cNvPr id="9" name="תיבת טקסט 8">
            <a:extLst>
              <a:ext uri="{FF2B5EF4-FFF2-40B4-BE49-F238E27FC236}">
                <a16:creationId xmlns:a16="http://schemas.microsoft.com/office/drawing/2014/main" id="{F7ED5978-82D8-082F-3EA0-E40F0F3A07C4}"/>
              </a:ext>
            </a:extLst>
          </p:cNvPr>
          <p:cNvSpPr txBox="1"/>
          <p:nvPr/>
        </p:nvSpPr>
        <p:spPr>
          <a:xfrm>
            <a:off x="7193902" y="4609322"/>
            <a:ext cx="2603241" cy="531845"/>
          </a:xfrm>
          <a:prstGeom prst="rect">
            <a:avLst/>
          </a:prstGeom>
          <a:noFill/>
        </p:spPr>
        <p:txBody>
          <a:bodyPr wrap="square" rtlCol="1">
            <a:spAutoFit/>
          </a:bodyPr>
          <a:lstStyle/>
          <a:p>
            <a:endParaRPr lang="he-IL" dirty="0"/>
          </a:p>
        </p:txBody>
      </p:sp>
      <p:sp>
        <p:nvSpPr>
          <p:cNvPr id="10" name="תיבת טקסט 9">
            <a:extLst>
              <a:ext uri="{FF2B5EF4-FFF2-40B4-BE49-F238E27FC236}">
                <a16:creationId xmlns:a16="http://schemas.microsoft.com/office/drawing/2014/main" id="{4BA87336-9F7E-A604-0E08-16E3852A7567}"/>
              </a:ext>
            </a:extLst>
          </p:cNvPr>
          <p:cNvSpPr txBox="1"/>
          <p:nvPr/>
        </p:nvSpPr>
        <p:spPr>
          <a:xfrm>
            <a:off x="6680718" y="1404030"/>
            <a:ext cx="5169160" cy="369332"/>
          </a:xfrm>
          <a:prstGeom prst="rect">
            <a:avLst/>
          </a:prstGeom>
          <a:noFill/>
        </p:spPr>
        <p:txBody>
          <a:bodyPr wrap="square" rtlCol="1">
            <a:spAutoFit/>
          </a:bodyPr>
          <a:lstStyle/>
          <a:p>
            <a:r>
              <a:rPr lang="he-IL" dirty="0"/>
              <a:t>3. מציג מי הקשיש ביותר ובאיזו פעילות הוא משתתף</a:t>
            </a:r>
          </a:p>
        </p:txBody>
      </p:sp>
      <p:sp>
        <p:nvSpPr>
          <p:cNvPr id="14" name="תיבת טקסט 13">
            <a:extLst>
              <a:ext uri="{FF2B5EF4-FFF2-40B4-BE49-F238E27FC236}">
                <a16:creationId xmlns:a16="http://schemas.microsoft.com/office/drawing/2014/main" id="{E362E302-6F10-C8CA-62D7-7B8EE5C3B6B1}"/>
              </a:ext>
            </a:extLst>
          </p:cNvPr>
          <p:cNvSpPr txBox="1"/>
          <p:nvPr/>
        </p:nvSpPr>
        <p:spPr>
          <a:xfrm>
            <a:off x="342122" y="1731203"/>
            <a:ext cx="6195526" cy="1754326"/>
          </a:xfrm>
          <a:prstGeom prst="rect">
            <a:avLst/>
          </a:prstGeom>
          <a:noFill/>
        </p:spPr>
        <p:txBody>
          <a:bodyPr wrap="square">
            <a:spAutoFit/>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Lname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typeA</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ActCode</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Patients P </a:t>
            </a:r>
            <a:r>
              <a:rPr lang="en-US" sz="1800" dirty="0">
                <a:solidFill>
                  <a:srgbClr val="808080"/>
                </a:solidFill>
                <a:latin typeface="Consolas" panose="020B0609020204030204" pitchFamily="49" charset="0"/>
              </a:rPr>
              <a:t>inner</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join</a:t>
            </a:r>
            <a:r>
              <a:rPr lang="en-US" sz="1800" dirty="0">
                <a:solidFill>
                  <a:srgbClr val="000000"/>
                </a:solidFill>
                <a:latin typeface="Consolas" panose="020B0609020204030204" pitchFamily="49" charset="0"/>
              </a:rPr>
              <a:t> Activities A   </a:t>
            </a:r>
          </a:p>
          <a:p>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CodeAct</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ActCode</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Birthdate</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min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Birthdate</a:t>
            </a:r>
            <a:r>
              <a:rPr lang="en-US" sz="1800" dirty="0">
                <a:solidFill>
                  <a:srgbClr val="808080"/>
                </a:solidFill>
                <a:latin typeface="Consolas" panose="020B0609020204030204" pitchFamily="49" charset="0"/>
              </a:rPr>
              <a:t>)  </a:t>
            </a:r>
          </a:p>
          <a:p>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Patients</a:t>
            </a:r>
            <a:r>
              <a:rPr lang="en-US" sz="1800" dirty="0">
                <a:solidFill>
                  <a:srgbClr val="808080"/>
                </a:solidFill>
                <a:latin typeface="Consolas" panose="020B0609020204030204" pitchFamily="49" charset="0"/>
              </a:rPr>
              <a:t>)        </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Birthdate </a:t>
            </a:r>
            <a:r>
              <a:rPr lang="en-US" sz="1800" dirty="0" err="1">
                <a:solidFill>
                  <a:srgbClr val="0000FF"/>
                </a:solidFill>
                <a:latin typeface="Consolas" panose="020B0609020204030204" pitchFamily="49" charset="0"/>
              </a:rPr>
              <a:t>asc</a:t>
            </a:r>
            <a:r>
              <a:rPr lang="en-US" sz="1800" dirty="0">
                <a:solidFill>
                  <a:srgbClr val="0000FF"/>
                </a:solidFill>
                <a:latin typeface="Consolas" panose="020B0609020204030204" pitchFamily="49" charset="0"/>
              </a:rPr>
              <a:t>                    </a:t>
            </a:r>
            <a:endParaRPr lang="he-IL" dirty="0"/>
          </a:p>
        </p:txBody>
      </p:sp>
      <p:pic>
        <p:nvPicPr>
          <p:cNvPr id="18" name="תמונה 17">
            <a:extLst>
              <a:ext uri="{FF2B5EF4-FFF2-40B4-BE49-F238E27FC236}">
                <a16:creationId xmlns:a16="http://schemas.microsoft.com/office/drawing/2014/main" id="{6530A949-60E5-9909-7471-46B9F814A8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3902" y="4673353"/>
            <a:ext cx="4230368" cy="822572"/>
          </a:xfrm>
          <a:prstGeom prst="rect">
            <a:avLst/>
          </a:prstGeom>
        </p:spPr>
      </p:pic>
    </p:spTree>
    <p:extLst>
      <p:ext uri="{BB962C8B-B14F-4D97-AF65-F5344CB8AC3E}">
        <p14:creationId xmlns:p14="http://schemas.microsoft.com/office/powerpoint/2010/main" val="155028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a:extLst>
              <a:ext uri="{FF2B5EF4-FFF2-40B4-BE49-F238E27FC236}">
                <a16:creationId xmlns:a16="http://schemas.microsoft.com/office/drawing/2014/main" id="{787970C3-652F-A5BA-92AC-364603EA6E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14" y="0"/>
            <a:ext cx="12237027" cy="7100596"/>
          </a:xfrm>
          <a:prstGeom prst="rect">
            <a:avLst/>
          </a:prstGeom>
        </p:spPr>
      </p:pic>
      <p:sp>
        <p:nvSpPr>
          <p:cNvPr id="3" name="תיבת טקסט 2">
            <a:extLst>
              <a:ext uri="{FF2B5EF4-FFF2-40B4-BE49-F238E27FC236}">
                <a16:creationId xmlns:a16="http://schemas.microsoft.com/office/drawing/2014/main" id="{0AF9131B-46EE-74BC-4EDC-BE7E1337ECD0}"/>
              </a:ext>
            </a:extLst>
          </p:cNvPr>
          <p:cNvSpPr txBox="1"/>
          <p:nvPr/>
        </p:nvSpPr>
        <p:spPr>
          <a:xfrm>
            <a:off x="5719666" y="1416725"/>
            <a:ext cx="5514390" cy="369332"/>
          </a:xfrm>
          <a:prstGeom prst="rect">
            <a:avLst/>
          </a:prstGeom>
          <a:noFill/>
        </p:spPr>
        <p:txBody>
          <a:bodyPr wrap="square" rtlCol="1">
            <a:spAutoFit/>
          </a:bodyPr>
          <a:lstStyle/>
          <a:p>
            <a:r>
              <a:rPr lang="he-IL" dirty="0"/>
              <a:t>4. מטופלים הנמצאים בחדרים שבהם אחות מסוימת עובדת </a:t>
            </a:r>
          </a:p>
        </p:txBody>
      </p:sp>
      <p:sp>
        <p:nvSpPr>
          <p:cNvPr id="4" name="כותרת 1">
            <a:extLst>
              <a:ext uri="{FF2B5EF4-FFF2-40B4-BE49-F238E27FC236}">
                <a16:creationId xmlns:a16="http://schemas.microsoft.com/office/drawing/2014/main" id="{5437EA83-B8A9-0E2D-28F9-DBD67378D83A}"/>
              </a:ext>
            </a:extLst>
          </p:cNvPr>
          <p:cNvSpPr txBox="1">
            <a:spLocks/>
          </p:cNvSpPr>
          <p:nvPr/>
        </p:nvSpPr>
        <p:spPr>
          <a:xfrm>
            <a:off x="530290" y="263133"/>
            <a:ext cx="105156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שאילתות</a:t>
            </a:r>
          </a:p>
        </p:txBody>
      </p:sp>
      <p:sp>
        <p:nvSpPr>
          <p:cNvPr id="6" name="תיבת טקסט 5">
            <a:extLst>
              <a:ext uri="{FF2B5EF4-FFF2-40B4-BE49-F238E27FC236}">
                <a16:creationId xmlns:a16="http://schemas.microsoft.com/office/drawing/2014/main" id="{D857CC1D-BA84-8ECA-7C3C-CF8011EDFBCF}"/>
              </a:ext>
            </a:extLst>
          </p:cNvPr>
          <p:cNvSpPr txBox="1"/>
          <p:nvPr/>
        </p:nvSpPr>
        <p:spPr>
          <a:xfrm>
            <a:off x="96415" y="1973893"/>
            <a:ext cx="5999584" cy="2031325"/>
          </a:xfrm>
          <a:prstGeom prst="rect">
            <a:avLst/>
          </a:prstGeom>
          <a:noFill/>
        </p:spPr>
        <p:txBody>
          <a:bodyPr wrap="square">
            <a:spAutoFit/>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Fname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Lname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NumRoom</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Patients P                        </a:t>
            </a:r>
          </a:p>
          <a:p>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NumRoom</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in                     </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NumRoom</a:t>
            </a:r>
            <a:r>
              <a:rPr lang="en-US"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Nurses N </a:t>
            </a:r>
            <a:r>
              <a:rPr lang="en-US" sz="1800" dirty="0">
                <a:solidFill>
                  <a:srgbClr val="808080"/>
                </a:solidFill>
                <a:latin typeface="Consolas" panose="020B0609020204030204" pitchFamily="49" charset="0"/>
              </a:rPr>
              <a:t>inner</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join</a:t>
            </a:r>
            <a:r>
              <a:rPr lang="en-US" sz="1800" dirty="0">
                <a:solidFill>
                  <a:srgbClr val="000000"/>
                </a:solidFill>
                <a:latin typeface="Consolas" panose="020B0609020204030204" pitchFamily="49" charset="0"/>
              </a:rPr>
              <a:t> Rooms R </a:t>
            </a:r>
          </a:p>
          <a:p>
            <a:r>
              <a:rPr lang="fr-FR" sz="1800" dirty="0">
                <a:solidFill>
                  <a:srgbClr val="000000"/>
                </a:solidFill>
                <a:latin typeface="Consolas" panose="020B0609020204030204" pitchFamily="49" charset="0"/>
              </a:rPr>
              <a:t>     </a:t>
            </a:r>
            <a:r>
              <a:rPr lang="fr-FR" sz="1800" dirty="0">
                <a:solidFill>
                  <a:srgbClr val="0000FF"/>
                </a:solidFill>
                <a:latin typeface="Consolas" panose="020B0609020204030204" pitchFamily="49" charset="0"/>
              </a:rPr>
              <a:t>on</a:t>
            </a:r>
            <a:r>
              <a:rPr lang="fr-FR" sz="1800" dirty="0">
                <a:solidFill>
                  <a:srgbClr val="000000"/>
                </a:solidFill>
                <a:latin typeface="Consolas" panose="020B0609020204030204" pitchFamily="49" charset="0"/>
              </a:rPr>
              <a:t> </a:t>
            </a:r>
            <a:r>
              <a:rPr lang="fr-FR" sz="1800" dirty="0" err="1">
                <a:solidFill>
                  <a:srgbClr val="000000"/>
                </a:solidFill>
                <a:latin typeface="Consolas" panose="020B0609020204030204" pitchFamily="49" charset="0"/>
              </a:rPr>
              <a:t>N</a:t>
            </a:r>
            <a:r>
              <a:rPr lang="fr-FR" sz="1800" dirty="0" err="1">
                <a:solidFill>
                  <a:srgbClr val="808080"/>
                </a:solidFill>
                <a:latin typeface="Consolas" panose="020B0609020204030204" pitchFamily="49" charset="0"/>
              </a:rPr>
              <a:t>.</a:t>
            </a:r>
            <a:r>
              <a:rPr lang="fr-FR" sz="1800" dirty="0" err="1">
                <a:solidFill>
                  <a:srgbClr val="000000"/>
                </a:solidFill>
                <a:latin typeface="Consolas" panose="020B0609020204030204" pitchFamily="49" charset="0"/>
              </a:rPr>
              <a:t>NursesCode</a:t>
            </a:r>
            <a:r>
              <a:rPr lang="fr-FR" sz="1800" dirty="0">
                <a:solidFill>
                  <a:srgbClr val="808080"/>
                </a:solidFill>
                <a:latin typeface="Consolas" panose="020B0609020204030204" pitchFamily="49" charset="0"/>
              </a:rPr>
              <a:t>=</a:t>
            </a:r>
            <a:r>
              <a:rPr lang="fr-FR" sz="1800" dirty="0" err="1">
                <a:solidFill>
                  <a:srgbClr val="000000"/>
                </a:solidFill>
                <a:latin typeface="Consolas" panose="020B0609020204030204" pitchFamily="49" charset="0"/>
              </a:rPr>
              <a:t>R</a:t>
            </a:r>
            <a:r>
              <a:rPr lang="fr-FR" sz="1800" dirty="0" err="1">
                <a:solidFill>
                  <a:srgbClr val="808080"/>
                </a:solidFill>
                <a:latin typeface="Consolas" panose="020B0609020204030204" pitchFamily="49" charset="0"/>
              </a:rPr>
              <a:t>.</a:t>
            </a:r>
            <a:r>
              <a:rPr lang="fr-FR" sz="1800" dirty="0" err="1">
                <a:solidFill>
                  <a:srgbClr val="000000"/>
                </a:solidFill>
                <a:latin typeface="Consolas" panose="020B0609020204030204" pitchFamily="49" charset="0"/>
              </a:rPr>
              <a:t>NursesCode</a:t>
            </a:r>
            <a:r>
              <a:rPr lang="fr-FR"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NursesCode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a:t>
            </a:r>
            <a:r>
              <a:rPr lang="en-US" sz="1800" dirty="0">
                <a:solidFill>
                  <a:srgbClr val="808080"/>
                </a:solidFill>
                <a:latin typeface="Consolas" panose="020B0609020204030204" pitchFamily="49" charset="0"/>
              </a:rPr>
              <a:t>)            </a:t>
            </a:r>
            <a:endParaRPr lang="he-IL" dirty="0"/>
          </a:p>
        </p:txBody>
      </p:sp>
      <p:sp>
        <p:nvSpPr>
          <p:cNvPr id="7" name="תיבת טקסט 6">
            <a:extLst>
              <a:ext uri="{FF2B5EF4-FFF2-40B4-BE49-F238E27FC236}">
                <a16:creationId xmlns:a16="http://schemas.microsoft.com/office/drawing/2014/main" id="{B7ACB7DB-DFB9-946A-A660-2629C1626C09}"/>
              </a:ext>
            </a:extLst>
          </p:cNvPr>
          <p:cNvSpPr txBox="1"/>
          <p:nvPr/>
        </p:nvSpPr>
        <p:spPr>
          <a:xfrm>
            <a:off x="9664959" y="3429000"/>
            <a:ext cx="1380931" cy="369332"/>
          </a:xfrm>
          <a:prstGeom prst="rect">
            <a:avLst/>
          </a:prstGeom>
          <a:noFill/>
        </p:spPr>
        <p:txBody>
          <a:bodyPr wrap="square" rtlCol="1">
            <a:spAutoFit/>
          </a:bodyPr>
          <a:lstStyle/>
          <a:p>
            <a:r>
              <a:rPr lang="he-IL" dirty="0"/>
              <a:t>דוגמא לפלט:</a:t>
            </a:r>
          </a:p>
        </p:txBody>
      </p:sp>
      <p:pic>
        <p:nvPicPr>
          <p:cNvPr id="9" name="תמונה 8">
            <a:extLst>
              <a:ext uri="{FF2B5EF4-FFF2-40B4-BE49-F238E27FC236}">
                <a16:creationId xmlns:a16="http://schemas.microsoft.com/office/drawing/2014/main" id="{D0BD7A7E-E166-9336-F678-9E0CFD8F3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6899" y="4193054"/>
            <a:ext cx="4188991" cy="1095287"/>
          </a:xfrm>
          <a:prstGeom prst="rect">
            <a:avLst/>
          </a:prstGeom>
        </p:spPr>
      </p:pic>
    </p:spTree>
    <p:extLst>
      <p:ext uri="{BB962C8B-B14F-4D97-AF65-F5344CB8AC3E}">
        <p14:creationId xmlns:p14="http://schemas.microsoft.com/office/powerpoint/2010/main" val="2643719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B7CB5691-1172-C948-C274-97CEDBD929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14" y="-121298"/>
            <a:ext cx="12237027" cy="7100596"/>
          </a:xfrm>
          <a:prstGeom prst="rect">
            <a:avLst/>
          </a:prstGeom>
        </p:spPr>
      </p:pic>
      <p:sp>
        <p:nvSpPr>
          <p:cNvPr id="5" name="כותרת 1">
            <a:extLst>
              <a:ext uri="{FF2B5EF4-FFF2-40B4-BE49-F238E27FC236}">
                <a16:creationId xmlns:a16="http://schemas.microsoft.com/office/drawing/2014/main" id="{C77C4CC7-2136-B9F4-7728-BE382A02467E}"/>
              </a:ext>
            </a:extLst>
          </p:cNvPr>
          <p:cNvSpPr txBox="1">
            <a:spLocks/>
          </p:cNvSpPr>
          <p:nvPr/>
        </p:nvSpPr>
        <p:spPr>
          <a:xfrm>
            <a:off x="530290" y="263133"/>
            <a:ext cx="105156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שאילתות</a:t>
            </a:r>
          </a:p>
        </p:txBody>
      </p:sp>
      <p:sp>
        <p:nvSpPr>
          <p:cNvPr id="6" name="תיבת טקסט 5">
            <a:extLst>
              <a:ext uri="{FF2B5EF4-FFF2-40B4-BE49-F238E27FC236}">
                <a16:creationId xmlns:a16="http://schemas.microsoft.com/office/drawing/2014/main" id="{CA466720-F9ED-1F6B-D71D-97742E75AA18}"/>
              </a:ext>
            </a:extLst>
          </p:cNvPr>
          <p:cNvSpPr txBox="1"/>
          <p:nvPr/>
        </p:nvSpPr>
        <p:spPr>
          <a:xfrm>
            <a:off x="9664959" y="3429000"/>
            <a:ext cx="1380931" cy="369332"/>
          </a:xfrm>
          <a:prstGeom prst="rect">
            <a:avLst/>
          </a:prstGeom>
          <a:noFill/>
        </p:spPr>
        <p:txBody>
          <a:bodyPr wrap="square" rtlCol="1">
            <a:spAutoFit/>
          </a:bodyPr>
          <a:lstStyle/>
          <a:p>
            <a:r>
              <a:rPr lang="he-IL" dirty="0"/>
              <a:t>דוגמא לפלט:</a:t>
            </a:r>
          </a:p>
        </p:txBody>
      </p:sp>
      <p:sp>
        <p:nvSpPr>
          <p:cNvPr id="7" name="תיבת טקסט 6">
            <a:extLst>
              <a:ext uri="{FF2B5EF4-FFF2-40B4-BE49-F238E27FC236}">
                <a16:creationId xmlns:a16="http://schemas.microsoft.com/office/drawing/2014/main" id="{659FE6D8-0823-2FB2-3E1E-C7D67E06FA52}"/>
              </a:ext>
            </a:extLst>
          </p:cNvPr>
          <p:cNvSpPr txBox="1"/>
          <p:nvPr/>
        </p:nvSpPr>
        <p:spPr>
          <a:xfrm>
            <a:off x="9385040" y="1482497"/>
            <a:ext cx="1940767" cy="369332"/>
          </a:xfrm>
          <a:prstGeom prst="rect">
            <a:avLst/>
          </a:prstGeom>
          <a:noFill/>
        </p:spPr>
        <p:txBody>
          <a:bodyPr wrap="square" rtlCol="1">
            <a:spAutoFit/>
          </a:bodyPr>
          <a:lstStyle/>
          <a:p>
            <a:r>
              <a:rPr lang="he-IL" dirty="0"/>
              <a:t>5. טבלה מדומה  </a:t>
            </a:r>
          </a:p>
        </p:txBody>
      </p:sp>
      <p:sp>
        <p:nvSpPr>
          <p:cNvPr id="3" name="תיבת טקסט 2">
            <a:extLst>
              <a:ext uri="{FF2B5EF4-FFF2-40B4-BE49-F238E27FC236}">
                <a16:creationId xmlns:a16="http://schemas.microsoft.com/office/drawing/2014/main" id="{BD5BD970-4327-B594-EDCC-924C3CA5561B}"/>
              </a:ext>
            </a:extLst>
          </p:cNvPr>
          <p:cNvSpPr txBox="1"/>
          <p:nvPr/>
        </p:nvSpPr>
        <p:spPr>
          <a:xfrm>
            <a:off x="530290" y="1490008"/>
            <a:ext cx="6116216" cy="2031325"/>
          </a:xfrm>
          <a:prstGeom prst="rect">
            <a:avLst/>
          </a:prstGeom>
          <a:noFill/>
        </p:spPr>
        <p:txBody>
          <a:bodyPr wrap="square">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view</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PatientsView</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PatientName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NumRoom</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NameAct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Fname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Lname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NumRoom</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A</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typeA</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Patients P </a:t>
            </a:r>
            <a:r>
              <a:rPr lang="en-US" sz="1800" dirty="0">
                <a:solidFill>
                  <a:srgbClr val="808080"/>
                </a:solidFill>
                <a:latin typeface="Consolas" panose="020B0609020204030204" pitchFamily="49" charset="0"/>
              </a:rPr>
              <a:t>left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join</a:t>
            </a:r>
            <a:r>
              <a:rPr lang="en-US" sz="1800" dirty="0">
                <a:solidFill>
                  <a:srgbClr val="000000"/>
                </a:solidFill>
                <a:latin typeface="Consolas" panose="020B0609020204030204" pitchFamily="49" charset="0"/>
              </a:rPr>
              <a:t> Activities A </a:t>
            </a:r>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ActCode</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A</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CodeAct</a:t>
            </a:r>
            <a:endParaRPr lang="en-US" sz="1800" dirty="0">
              <a:solidFill>
                <a:srgbClr val="000000"/>
              </a:solidFill>
              <a:latin typeface="Consolas" panose="020B0609020204030204" pitchFamily="49" charset="0"/>
            </a:endParaRPr>
          </a:p>
          <a:p>
            <a:endParaRPr lang="he-IL" sz="1800" dirty="0">
              <a:solidFill>
                <a:srgbClr val="000000"/>
              </a:solidFill>
              <a:latin typeface="Consolas" panose="020B0609020204030204" pitchFamily="49" charset="0"/>
            </a:endParaRPr>
          </a:p>
        </p:txBody>
      </p:sp>
      <p:pic>
        <p:nvPicPr>
          <p:cNvPr id="9" name="תמונה 8">
            <a:extLst>
              <a:ext uri="{FF2B5EF4-FFF2-40B4-BE49-F238E27FC236}">
                <a16:creationId xmlns:a16="http://schemas.microsoft.com/office/drawing/2014/main" id="{0CC2EF22-E219-9348-3A24-8C835A047F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4653" y="4050147"/>
            <a:ext cx="4013507" cy="2650712"/>
          </a:xfrm>
          <a:prstGeom prst="rect">
            <a:avLst/>
          </a:prstGeom>
        </p:spPr>
      </p:pic>
    </p:spTree>
    <p:extLst>
      <p:ext uri="{BB962C8B-B14F-4D97-AF65-F5344CB8AC3E}">
        <p14:creationId xmlns:p14="http://schemas.microsoft.com/office/powerpoint/2010/main" val="424893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705BE-1D98-31FD-AE9F-FE18B2036196}"/>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A88492E1-A438-099A-4F38-968FA14EA4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27" y="0"/>
            <a:ext cx="12237027" cy="7100596"/>
          </a:xfrm>
          <a:prstGeom prst="rect">
            <a:avLst/>
          </a:prstGeom>
        </p:spPr>
      </p:pic>
      <p:sp>
        <p:nvSpPr>
          <p:cNvPr id="2" name="כותרת 1">
            <a:extLst>
              <a:ext uri="{FF2B5EF4-FFF2-40B4-BE49-F238E27FC236}">
                <a16:creationId xmlns:a16="http://schemas.microsoft.com/office/drawing/2014/main" id="{84B66D7F-0BB4-3D13-2344-3DCC3F26B243}"/>
              </a:ext>
            </a:extLst>
          </p:cNvPr>
          <p:cNvSpPr txBox="1">
            <a:spLocks/>
          </p:cNvSpPr>
          <p:nvPr/>
        </p:nvSpPr>
        <p:spPr>
          <a:xfrm>
            <a:off x="8798766" y="263133"/>
            <a:ext cx="2247123"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פונקציה</a:t>
            </a:r>
          </a:p>
        </p:txBody>
      </p:sp>
      <p:sp>
        <p:nvSpPr>
          <p:cNvPr id="3" name="תיבת טקסט 2">
            <a:extLst>
              <a:ext uri="{FF2B5EF4-FFF2-40B4-BE49-F238E27FC236}">
                <a16:creationId xmlns:a16="http://schemas.microsoft.com/office/drawing/2014/main" id="{545472F4-2257-20E8-96CD-8F58341104DD}"/>
              </a:ext>
            </a:extLst>
          </p:cNvPr>
          <p:cNvSpPr txBox="1"/>
          <p:nvPr/>
        </p:nvSpPr>
        <p:spPr>
          <a:xfrm>
            <a:off x="6349480" y="1306285"/>
            <a:ext cx="4898572" cy="369332"/>
          </a:xfrm>
          <a:prstGeom prst="rect">
            <a:avLst/>
          </a:prstGeom>
          <a:noFill/>
        </p:spPr>
        <p:txBody>
          <a:bodyPr wrap="square" rtlCol="1">
            <a:spAutoFit/>
          </a:bodyPr>
          <a:lstStyle/>
          <a:p>
            <a:r>
              <a:rPr lang="he-IL" dirty="0"/>
              <a:t>פונקציה שמחשבת את גיל המטופל לפי התאריך לידה</a:t>
            </a:r>
          </a:p>
        </p:txBody>
      </p:sp>
      <p:sp>
        <p:nvSpPr>
          <p:cNvPr id="6" name="תיבת טקסט 5">
            <a:extLst>
              <a:ext uri="{FF2B5EF4-FFF2-40B4-BE49-F238E27FC236}">
                <a16:creationId xmlns:a16="http://schemas.microsoft.com/office/drawing/2014/main" id="{2D8B13A7-60E2-2839-A69D-336BEC25A701}"/>
              </a:ext>
            </a:extLst>
          </p:cNvPr>
          <p:cNvSpPr txBox="1"/>
          <p:nvPr/>
        </p:nvSpPr>
        <p:spPr>
          <a:xfrm>
            <a:off x="295472" y="1306285"/>
            <a:ext cx="6195526" cy="4247317"/>
          </a:xfrm>
          <a:prstGeom prst="rect">
            <a:avLst/>
          </a:prstGeom>
          <a:noFill/>
        </p:spPr>
        <p:txBody>
          <a:bodyPr wrap="square">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function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PatientAge</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@BirthDate </a:t>
            </a:r>
            <a:r>
              <a:rPr lang="en-US" sz="1800" dirty="0">
                <a:solidFill>
                  <a:srgbClr val="0000FF"/>
                </a:solidFill>
                <a:latin typeface="Consolas" panose="020B0609020204030204" pitchFamily="49" charset="0"/>
              </a:rPr>
              <a:t>date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returns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declare</a:t>
            </a:r>
            <a:r>
              <a:rPr lang="en-US" sz="1800" dirty="0">
                <a:solidFill>
                  <a:srgbClr val="000000"/>
                </a:solidFill>
                <a:latin typeface="Consolas" panose="020B0609020204030204" pitchFamily="49" charset="0"/>
              </a:rPr>
              <a:t> @Age </a:t>
            </a:r>
            <a:r>
              <a:rPr lang="en-US" sz="1800" dirty="0">
                <a:solidFill>
                  <a:srgbClr val="0000FF"/>
                </a:solidFill>
                <a:latin typeface="Consolas" panose="020B0609020204030204" pitchFamily="49" charset="0"/>
              </a:rPr>
              <a:t>int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@Age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FF00FF"/>
                </a:solidFill>
                <a:latin typeface="Consolas" panose="020B0609020204030204" pitchFamily="49" charset="0"/>
              </a:rPr>
              <a:t>datediff</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year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@BirthDate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if</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month</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@BirthDate</a:t>
            </a:r>
            <a:r>
              <a:rPr lang="en-US" sz="1800" dirty="0">
                <a:solidFill>
                  <a:srgbClr val="808080"/>
                </a:solidFill>
                <a:latin typeface="Consolas" panose="020B0609020204030204" pitchFamily="49" charset="0"/>
              </a:rPr>
              <a:t>)&gt;</a:t>
            </a:r>
            <a:r>
              <a:rPr lang="en-US" sz="1800" dirty="0">
                <a:solidFill>
                  <a:srgbClr val="FF00FF"/>
                </a:solidFill>
                <a:latin typeface="Consolas" panose="020B0609020204030204" pitchFamily="49" charset="0"/>
              </a:rPr>
              <a:t>month</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p>
          <a:p>
            <a:r>
              <a:rPr lang="en-US" sz="1800" dirty="0">
                <a:solidFill>
                  <a:srgbClr val="808080"/>
                </a:solidFill>
                <a:latin typeface="Consolas" panose="020B0609020204030204" pitchFamily="49" charset="0"/>
              </a:rPr>
              <a:t>or</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month</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@BirthDate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month</a:t>
            </a:r>
            <a:r>
              <a:rPr lang="en-US" sz="1800" dirty="0">
                <a:solidFill>
                  <a:srgbClr val="808080"/>
                </a:solidFill>
                <a:latin typeface="Consolas" panose="020B0609020204030204" pitchFamily="49" charset="0"/>
              </a:rPr>
              <a:t>(</a:t>
            </a:r>
            <a:r>
              <a:rPr lang="en-US" sz="1800" dirty="0" err="1">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p>
          <a:p>
            <a:r>
              <a:rPr lang="en-US" sz="1800" dirty="0">
                <a:solidFill>
                  <a:srgbClr val="808080"/>
                </a:solidFill>
                <a:latin typeface="Consolas" panose="020B0609020204030204" pitchFamily="49" charset="0"/>
              </a:rPr>
              <a:t>and</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day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@BirthDate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&gt;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day</a:t>
            </a:r>
            <a:r>
              <a:rPr lang="en-US" sz="1800" dirty="0">
                <a:solidFill>
                  <a:srgbClr val="808080"/>
                </a:solidFill>
                <a:latin typeface="Consolas" panose="020B0609020204030204" pitchFamily="49" charset="0"/>
              </a:rPr>
              <a:t>(</a:t>
            </a:r>
            <a:r>
              <a:rPr lang="en-US" sz="1800" dirty="0" err="1">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@Age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@Age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a:t>
            </a:r>
          </a:p>
          <a:p>
            <a:r>
              <a:rPr lang="en-US" sz="1800" dirty="0">
                <a:solidFill>
                  <a:srgbClr val="0000FF"/>
                </a:solidFill>
                <a:latin typeface="Consolas" panose="020B0609020204030204" pitchFamily="49" charset="0"/>
              </a:rPr>
              <a:t>return</a:t>
            </a:r>
            <a:r>
              <a:rPr lang="en-US" sz="1800" dirty="0">
                <a:solidFill>
                  <a:srgbClr val="000000"/>
                </a:solidFill>
                <a:latin typeface="Consolas" panose="020B0609020204030204" pitchFamily="49" charset="0"/>
              </a:rPr>
              <a:t> @Age</a:t>
            </a:r>
          </a:p>
          <a:p>
            <a:r>
              <a:rPr lang="en-US" sz="1800" dirty="0">
                <a:solidFill>
                  <a:srgbClr val="0000FF"/>
                </a:solidFill>
                <a:latin typeface="Consolas" panose="020B0609020204030204" pitchFamily="49" charset="0"/>
              </a:rPr>
              <a:t>end</a:t>
            </a:r>
            <a:endParaRPr lang="he-IL" dirty="0"/>
          </a:p>
        </p:txBody>
      </p:sp>
    </p:spTree>
    <p:extLst>
      <p:ext uri="{BB962C8B-B14F-4D97-AF65-F5344CB8AC3E}">
        <p14:creationId xmlns:p14="http://schemas.microsoft.com/office/powerpoint/2010/main" val="1118522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8FB84-7CB6-18DF-2AB2-373836F38E51}"/>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280AD471-8B00-F586-0AA4-8164E4FA08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1298"/>
            <a:ext cx="12237027" cy="7100596"/>
          </a:xfrm>
          <a:prstGeom prst="rect">
            <a:avLst/>
          </a:prstGeom>
        </p:spPr>
      </p:pic>
      <p:sp>
        <p:nvSpPr>
          <p:cNvPr id="3" name="תיבת טקסט 2">
            <a:extLst>
              <a:ext uri="{FF2B5EF4-FFF2-40B4-BE49-F238E27FC236}">
                <a16:creationId xmlns:a16="http://schemas.microsoft.com/office/drawing/2014/main" id="{2DE1B788-7826-E99A-4FBF-283252D90A85}"/>
              </a:ext>
            </a:extLst>
          </p:cNvPr>
          <p:cNvSpPr txBox="1"/>
          <p:nvPr/>
        </p:nvSpPr>
        <p:spPr>
          <a:xfrm>
            <a:off x="3545633" y="718457"/>
            <a:ext cx="7977673" cy="369332"/>
          </a:xfrm>
          <a:prstGeom prst="rect">
            <a:avLst/>
          </a:prstGeom>
          <a:noFill/>
        </p:spPr>
        <p:txBody>
          <a:bodyPr wrap="square" rtlCol="1">
            <a:spAutoFit/>
          </a:bodyPr>
          <a:lstStyle/>
          <a:p>
            <a:r>
              <a:rPr lang="en-US" dirty="0" err="1">
                <a:solidFill>
                  <a:srgbClr val="000000"/>
                </a:solidFill>
                <a:latin typeface="Consolas" panose="020B0609020204030204" pitchFamily="49" charset="0"/>
              </a:rPr>
              <a:t>PatientAge</a:t>
            </a:r>
            <a:r>
              <a:rPr lang="en-US" dirty="0">
                <a:solidFill>
                  <a:srgbClr val="000000"/>
                </a:solidFill>
                <a:latin typeface="Consolas" panose="020B0609020204030204" pitchFamily="49" charset="0"/>
              </a:rPr>
              <a:t> </a:t>
            </a:r>
            <a:r>
              <a:rPr lang="he-IL" dirty="0"/>
              <a:t>שאילתה שמביאה את גיל המטופל – השאילתה משתמשת בפונקציה</a:t>
            </a:r>
          </a:p>
        </p:txBody>
      </p:sp>
      <p:sp>
        <p:nvSpPr>
          <p:cNvPr id="6" name="תיבת טקסט 5">
            <a:extLst>
              <a:ext uri="{FF2B5EF4-FFF2-40B4-BE49-F238E27FC236}">
                <a16:creationId xmlns:a16="http://schemas.microsoft.com/office/drawing/2014/main" id="{9C7C91A1-9A02-BB9C-A0C7-4F0CA3C92D2F}"/>
              </a:ext>
            </a:extLst>
          </p:cNvPr>
          <p:cNvSpPr txBox="1"/>
          <p:nvPr/>
        </p:nvSpPr>
        <p:spPr>
          <a:xfrm>
            <a:off x="450203" y="1806246"/>
            <a:ext cx="6190860" cy="1200329"/>
          </a:xfrm>
          <a:prstGeom prst="rect">
            <a:avLst/>
          </a:prstGeom>
          <a:noFill/>
        </p:spPr>
        <p:txBody>
          <a:bodyPr wrap="square">
            <a:spAutoFit/>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Lname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PatientAge</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BirthDate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p_Age</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Patients </a:t>
            </a:r>
          </a:p>
          <a:p>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Lname</a:t>
            </a:r>
            <a:endParaRPr lang="he-IL" dirty="0"/>
          </a:p>
        </p:txBody>
      </p:sp>
      <p:sp>
        <p:nvSpPr>
          <p:cNvPr id="7" name="תיבת טקסט 6">
            <a:extLst>
              <a:ext uri="{FF2B5EF4-FFF2-40B4-BE49-F238E27FC236}">
                <a16:creationId xmlns:a16="http://schemas.microsoft.com/office/drawing/2014/main" id="{6531983D-ED84-4363-E61B-0055D2EBFFBC}"/>
              </a:ext>
            </a:extLst>
          </p:cNvPr>
          <p:cNvSpPr txBox="1"/>
          <p:nvPr/>
        </p:nvSpPr>
        <p:spPr>
          <a:xfrm>
            <a:off x="9825134" y="3059668"/>
            <a:ext cx="1376266" cy="369332"/>
          </a:xfrm>
          <a:prstGeom prst="rect">
            <a:avLst/>
          </a:prstGeom>
          <a:noFill/>
        </p:spPr>
        <p:txBody>
          <a:bodyPr wrap="square" rtlCol="1">
            <a:spAutoFit/>
          </a:bodyPr>
          <a:lstStyle/>
          <a:p>
            <a:r>
              <a:rPr lang="he-IL" dirty="0"/>
              <a:t>דוגמא לפלט:</a:t>
            </a:r>
          </a:p>
        </p:txBody>
      </p:sp>
      <p:pic>
        <p:nvPicPr>
          <p:cNvPr id="9" name="תמונה 8">
            <a:extLst>
              <a:ext uri="{FF2B5EF4-FFF2-40B4-BE49-F238E27FC236}">
                <a16:creationId xmlns:a16="http://schemas.microsoft.com/office/drawing/2014/main" id="{61F28C2A-453F-8D71-C22C-78CD93D762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38040" y="3779979"/>
            <a:ext cx="3063360" cy="2536845"/>
          </a:xfrm>
          <a:prstGeom prst="rect">
            <a:avLst/>
          </a:prstGeom>
        </p:spPr>
      </p:pic>
    </p:spTree>
    <p:extLst>
      <p:ext uri="{BB962C8B-B14F-4D97-AF65-F5344CB8AC3E}">
        <p14:creationId xmlns:p14="http://schemas.microsoft.com/office/powerpoint/2010/main" val="1493870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870D6826-9138-B003-9515-FDD8AF3467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37027" cy="7100596"/>
          </a:xfrm>
          <a:prstGeom prst="rect">
            <a:avLst/>
          </a:prstGeom>
        </p:spPr>
      </p:pic>
      <p:sp>
        <p:nvSpPr>
          <p:cNvPr id="5" name="כותרת 1">
            <a:extLst>
              <a:ext uri="{FF2B5EF4-FFF2-40B4-BE49-F238E27FC236}">
                <a16:creationId xmlns:a16="http://schemas.microsoft.com/office/drawing/2014/main" id="{590269AD-4019-B22B-53A5-54C095D3F6F5}"/>
              </a:ext>
            </a:extLst>
          </p:cNvPr>
          <p:cNvSpPr txBox="1">
            <a:spLocks/>
          </p:cNvSpPr>
          <p:nvPr/>
        </p:nvSpPr>
        <p:spPr>
          <a:xfrm>
            <a:off x="8136294" y="263133"/>
            <a:ext cx="2909596"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פרוצדורות</a:t>
            </a:r>
          </a:p>
        </p:txBody>
      </p:sp>
      <p:sp>
        <p:nvSpPr>
          <p:cNvPr id="6" name="תיבת טקסט 5">
            <a:extLst>
              <a:ext uri="{FF2B5EF4-FFF2-40B4-BE49-F238E27FC236}">
                <a16:creationId xmlns:a16="http://schemas.microsoft.com/office/drawing/2014/main" id="{86A6B870-0A0A-6E30-29A1-606D30001B5F}"/>
              </a:ext>
            </a:extLst>
          </p:cNvPr>
          <p:cNvSpPr txBox="1"/>
          <p:nvPr/>
        </p:nvSpPr>
        <p:spPr>
          <a:xfrm>
            <a:off x="8444204" y="1588696"/>
            <a:ext cx="3116425" cy="369332"/>
          </a:xfrm>
          <a:prstGeom prst="rect">
            <a:avLst/>
          </a:prstGeom>
          <a:noFill/>
        </p:spPr>
        <p:txBody>
          <a:bodyPr wrap="square" rtlCol="1">
            <a:spAutoFit/>
          </a:bodyPr>
          <a:lstStyle/>
          <a:p>
            <a:r>
              <a:rPr lang="he-IL" dirty="0"/>
              <a:t>1. אפשרות להכנסת מטופל חדש</a:t>
            </a:r>
          </a:p>
        </p:txBody>
      </p:sp>
      <p:sp>
        <p:nvSpPr>
          <p:cNvPr id="8" name="תיבת טקסט 7">
            <a:extLst>
              <a:ext uri="{FF2B5EF4-FFF2-40B4-BE49-F238E27FC236}">
                <a16:creationId xmlns:a16="http://schemas.microsoft.com/office/drawing/2014/main" id="{75BE1558-F848-5576-D7C0-E991DE1290AF}"/>
              </a:ext>
            </a:extLst>
          </p:cNvPr>
          <p:cNvSpPr txBox="1"/>
          <p:nvPr/>
        </p:nvSpPr>
        <p:spPr>
          <a:xfrm>
            <a:off x="292006" y="1106841"/>
            <a:ext cx="7475800" cy="5632311"/>
          </a:xfrm>
          <a:prstGeom prst="rect">
            <a:avLst/>
          </a:prstGeom>
          <a:noFill/>
        </p:spPr>
        <p:txBody>
          <a:bodyPr wrap="square">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procedure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NewPatient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@P_Id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@Fname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@Lname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@Birthdate </a:t>
            </a:r>
            <a:r>
              <a:rPr lang="en-US" sz="1800" dirty="0">
                <a:solidFill>
                  <a:srgbClr val="0000FF"/>
                </a:solidFill>
                <a:latin typeface="Consolas" panose="020B0609020204030204" pitchFamily="49" charset="0"/>
              </a:rPr>
              <a:t>date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@P_Address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@P_Phone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@ActCode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@PayMent </a:t>
            </a:r>
            <a:r>
              <a:rPr lang="en-US" sz="1800" dirty="0">
                <a:solidFill>
                  <a:srgbClr val="0000FF"/>
                </a:solidFill>
                <a:latin typeface="Consolas" panose="020B0609020204030204" pitchFamily="49" charset="0"/>
              </a:rPr>
              <a:t>float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@ProductCode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@NumRoom </a:t>
            </a:r>
            <a:r>
              <a:rPr lang="en-US" sz="1800" dirty="0">
                <a:solidFill>
                  <a:srgbClr val="0000FF"/>
                </a:solidFill>
                <a:latin typeface="Consolas" panose="020B0609020204030204" pitchFamily="49" charset="0"/>
              </a:rPr>
              <a:t>int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insert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into</a:t>
            </a:r>
            <a:r>
              <a:rPr lang="en-US" sz="1800" dirty="0">
                <a:solidFill>
                  <a:srgbClr val="000000"/>
                </a:solidFill>
                <a:latin typeface="Consolas" panose="020B0609020204030204" pitchFamily="49" charset="0"/>
              </a:rPr>
              <a:t> Patients</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Fname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Lname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Birthdate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P_Address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P_Phone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ActCode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PayMent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ProductCode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NumRoom</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values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@Fname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@Lname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@Birthdate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@P_Address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@P_Phone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@ActCode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@PayMent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@ProductCode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@NumRoom</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he-IL" dirty="0"/>
          </a:p>
        </p:txBody>
      </p:sp>
    </p:spTree>
    <p:extLst>
      <p:ext uri="{BB962C8B-B14F-4D97-AF65-F5344CB8AC3E}">
        <p14:creationId xmlns:p14="http://schemas.microsoft.com/office/powerpoint/2010/main" val="713202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6BD0842D-55FD-AADD-D46A-79094425A1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2596"/>
            <a:ext cx="12237027" cy="7100596"/>
          </a:xfrm>
          <a:prstGeom prst="rect">
            <a:avLst/>
          </a:prstGeom>
        </p:spPr>
      </p:pic>
      <p:sp>
        <p:nvSpPr>
          <p:cNvPr id="5" name="כותרת 1">
            <a:extLst>
              <a:ext uri="{FF2B5EF4-FFF2-40B4-BE49-F238E27FC236}">
                <a16:creationId xmlns:a16="http://schemas.microsoft.com/office/drawing/2014/main" id="{3D0BD991-25DB-750B-8BE9-56EBDA44D30D}"/>
              </a:ext>
            </a:extLst>
          </p:cNvPr>
          <p:cNvSpPr txBox="1">
            <a:spLocks/>
          </p:cNvSpPr>
          <p:nvPr/>
        </p:nvSpPr>
        <p:spPr>
          <a:xfrm>
            <a:off x="8117633" y="144517"/>
            <a:ext cx="2909596"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פרוצדורות</a:t>
            </a:r>
          </a:p>
        </p:txBody>
      </p:sp>
      <p:sp>
        <p:nvSpPr>
          <p:cNvPr id="6" name="תיבת טקסט 5">
            <a:extLst>
              <a:ext uri="{FF2B5EF4-FFF2-40B4-BE49-F238E27FC236}">
                <a16:creationId xmlns:a16="http://schemas.microsoft.com/office/drawing/2014/main" id="{9AD4C3E4-0338-A5AC-290C-239DC7BD9440}"/>
              </a:ext>
            </a:extLst>
          </p:cNvPr>
          <p:cNvSpPr txBox="1"/>
          <p:nvPr/>
        </p:nvSpPr>
        <p:spPr>
          <a:xfrm>
            <a:off x="7212563" y="1319731"/>
            <a:ext cx="4320073" cy="369332"/>
          </a:xfrm>
          <a:prstGeom prst="rect">
            <a:avLst/>
          </a:prstGeom>
          <a:noFill/>
        </p:spPr>
        <p:txBody>
          <a:bodyPr wrap="square" rtlCol="1">
            <a:spAutoFit/>
          </a:bodyPr>
          <a:lstStyle/>
          <a:p>
            <a:r>
              <a:rPr lang="he-IL" dirty="0"/>
              <a:t>2. העברת מטופל לחדר חדש ועדכון התשלום</a:t>
            </a:r>
          </a:p>
        </p:txBody>
      </p:sp>
      <p:sp>
        <p:nvSpPr>
          <p:cNvPr id="12" name="תיבת טקסט 11">
            <a:extLst>
              <a:ext uri="{FF2B5EF4-FFF2-40B4-BE49-F238E27FC236}">
                <a16:creationId xmlns:a16="http://schemas.microsoft.com/office/drawing/2014/main" id="{D71F097A-1645-B7E2-68F5-724E9ADD42F0}"/>
              </a:ext>
            </a:extLst>
          </p:cNvPr>
          <p:cNvSpPr txBox="1"/>
          <p:nvPr/>
        </p:nvSpPr>
        <p:spPr>
          <a:xfrm>
            <a:off x="242596" y="679617"/>
            <a:ext cx="5570375" cy="5909310"/>
          </a:xfrm>
          <a:prstGeom prst="rect">
            <a:avLst/>
          </a:prstGeom>
          <a:noFill/>
        </p:spPr>
        <p:txBody>
          <a:bodyPr wrap="square">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procedure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MoveRoom</a:t>
            </a:r>
            <a:endParaRPr lang="en-US" sz="1800" dirty="0">
              <a:solidFill>
                <a:srgbClr val="000000"/>
              </a:solidFill>
              <a:latin typeface="Consolas" panose="020B0609020204030204" pitchFamily="49" charset="0"/>
            </a:endParaRPr>
          </a:p>
          <a:p>
            <a:r>
              <a:rPr lang="sv-SE" sz="1800" dirty="0">
                <a:solidFill>
                  <a:srgbClr val="000000"/>
                </a:solidFill>
                <a:latin typeface="Consolas" panose="020B0609020204030204" pitchFamily="49" charset="0"/>
              </a:rPr>
              <a:t>@p_Id </a:t>
            </a:r>
            <a:r>
              <a:rPr lang="sv-SE" sz="1800" dirty="0">
                <a:solidFill>
                  <a:srgbClr val="0000FF"/>
                </a:solidFill>
                <a:latin typeface="Consolas" panose="020B0609020204030204" pitchFamily="49" charset="0"/>
              </a:rPr>
              <a:t>nvarchar</a:t>
            </a:r>
            <a:r>
              <a:rPr lang="sv-SE" sz="1800" dirty="0">
                <a:solidFill>
                  <a:srgbClr val="808080"/>
                </a:solidFill>
                <a:latin typeface="Consolas" panose="020B0609020204030204" pitchFamily="49" charset="0"/>
              </a:rPr>
              <a:t>(</a:t>
            </a:r>
            <a:r>
              <a:rPr lang="sv-SE" sz="1800" dirty="0">
                <a:solidFill>
                  <a:srgbClr val="000000"/>
                </a:solidFill>
                <a:latin typeface="Consolas" panose="020B0609020204030204" pitchFamily="49" charset="0"/>
              </a:rPr>
              <a:t>20</a:t>
            </a:r>
            <a:r>
              <a:rPr lang="sv-SE" sz="1800" dirty="0">
                <a:solidFill>
                  <a:srgbClr val="808080"/>
                </a:solidFill>
                <a:latin typeface="Consolas" panose="020B0609020204030204" pitchFamily="49" charset="0"/>
              </a:rPr>
              <a:t>),</a:t>
            </a:r>
            <a:r>
              <a:rPr lang="sv-SE" sz="1800" dirty="0">
                <a:solidFill>
                  <a:srgbClr val="000000"/>
                </a:solidFill>
                <a:latin typeface="Consolas" panose="020B0609020204030204" pitchFamily="49" charset="0"/>
              </a:rPr>
              <a:t> @NewNumRoom </a:t>
            </a:r>
            <a:r>
              <a:rPr lang="sv-SE" sz="1800" dirty="0">
                <a:solidFill>
                  <a:srgbClr val="0000FF"/>
                </a:solidFill>
                <a:latin typeface="Consolas" panose="020B0609020204030204" pitchFamily="49" charset="0"/>
              </a:rPr>
              <a:t>int</a:t>
            </a:r>
            <a:endParaRPr lang="sv-SE"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nocount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on</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declare</a:t>
            </a:r>
            <a:r>
              <a:rPr lang="en-US" sz="1800" dirty="0">
                <a:solidFill>
                  <a:srgbClr val="000000"/>
                </a:solidFill>
                <a:latin typeface="Consolas" panose="020B0609020204030204" pitchFamily="49" charset="0"/>
              </a:rPr>
              <a:t> @CurrentRoomCost </a:t>
            </a:r>
            <a:r>
              <a:rPr lang="en-US" sz="1800" dirty="0">
                <a:solidFill>
                  <a:srgbClr val="0000FF"/>
                </a:solidFill>
                <a:latin typeface="Consolas" panose="020B0609020204030204" pitchFamily="49" charset="0"/>
              </a:rPr>
              <a:t>float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declare</a:t>
            </a:r>
            <a:r>
              <a:rPr lang="en-US" sz="1800" dirty="0">
                <a:solidFill>
                  <a:srgbClr val="000000"/>
                </a:solidFill>
                <a:latin typeface="Consolas" panose="020B0609020204030204" pitchFamily="49" charset="0"/>
              </a:rPr>
              <a:t> @NewRoomCost </a:t>
            </a:r>
            <a:r>
              <a:rPr lang="en-US" sz="1800" dirty="0">
                <a:solidFill>
                  <a:srgbClr val="0000FF"/>
                </a:solidFill>
                <a:latin typeface="Consolas" panose="020B0609020204030204" pitchFamily="49" charset="0"/>
              </a:rPr>
              <a:t>float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declare</a:t>
            </a:r>
            <a:r>
              <a:rPr lang="en-US" sz="1800" dirty="0">
                <a:solidFill>
                  <a:srgbClr val="000000"/>
                </a:solidFill>
                <a:latin typeface="Consolas" panose="020B0609020204030204" pitchFamily="49" charset="0"/>
              </a:rPr>
              <a:t> @CurrentPayment </a:t>
            </a:r>
            <a:r>
              <a:rPr lang="en-US" sz="1800" dirty="0">
                <a:solidFill>
                  <a:srgbClr val="0000FF"/>
                </a:solidFill>
                <a:latin typeface="Consolas" panose="020B0609020204030204" pitchFamily="49" charset="0"/>
              </a:rPr>
              <a:t>float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declare</a:t>
            </a:r>
            <a:r>
              <a:rPr lang="en-US" sz="1800" dirty="0">
                <a:solidFill>
                  <a:srgbClr val="000000"/>
                </a:solidFill>
                <a:latin typeface="Consolas" panose="020B0609020204030204" pitchFamily="49" charset="0"/>
              </a:rPr>
              <a:t> @NewPayment </a:t>
            </a:r>
            <a:r>
              <a:rPr lang="en-US" sz="1800" dirty="0">
                <a:solidFill>
                  <a:srgbClr val="0000FF"/>
                </a:solidFill>
                <a:latin typeface="Consolas" panose="020B0609020204030204" pitchFamily="49" charset="0"/>
              </a:rPr>
              <a:t>float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try</a:t>
            </a:r>
            <a:endParaRPr lang="en-US" sz="1800" dirty="0">
              <a:solidFill>
                <a:srgbClr val="000000"/>
              </a:solidFill>
              <a:latin typeface="Consolas" panose="020B0609020204030204" pitchFamily="49" charset="0"/>
            </a:endParaRPr>
          </a:p>
          <a:p>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@CurrentRoomCost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CostRoom</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@CurrentPayment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PayMent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Patients P </a:t>
            </a:r>
            <a:r>
              <a:rPr lang="en-US" sz="1800" dirty="0">
                <a:solidFill>
                  <a:srgbClr val="808080"/>
                </a:solidFill>
                <a:latin typeface="Consolas" panose="020B0609020204030204" pitchFamily="49" charset="0"/>
              </a:rPr>
              <a:t>inner</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join</a:t>
            </a:r>
            <a:r>
              <a:rPr lang="en-US" sz="1800" dirty="0">
                <a:solidFill>
                  <a:srgbClr val="000000"/>
                </a:solidFill>
                <a:latin typeface="Consolas" panose="020B0609020204030204" pitchFamily="49" charset="0"/>
              </a:rPr>
              <a:t> Rooms R </a:t>
            </a:r>
          </a:p>
          <a:p>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NumRoom</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NumRoom</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P_Id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@p_Id</a:t>
            </a:r>
          </a:p>
          <a:p>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@NewRoomCost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CostRoom</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Rooms</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NumRoom</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@NewNumRoom</a:t>
            </a:r>
          </a:p>
        </p:txBody>
      </p:sp>
      <p:sp>
        <p:nvSpPr>
          <p:cNvPr id="15" name="תיבת טקסט 14">
            <a:extLst>
              <a:ext uri="{FF2B5EF4-FFF2-40B4-BE49-F238E27FC236}">
                <a16:creationId xmlns:a16="http://schemas.microsoft.com/office/drawing/2014/main" id="{B95B7CCF-E189-D01D-95E0-15FA6450172C}"/>
              </a:ext>
            </a:extLst>
          </p:cNvPr>
          <p:cNvSpPr txBox="1"/>
          <p:nvPr/>
        </p:nvSpPr>
        <p:spPr>
          <a:xfrm>
            <a:off x="8425543" y="5589036"/>
            <a:ext cx="1296956" cy="461665"/>
          </a:xfrm>
          <a:prstGeom prst="rect">
            <a:avLst/>
          </a:prstGeom>
          <a:noFill/>
        </p:spPr>
        <p:txBody>
          <a:bodyPr wrap="square" rtlCol="1">
            <a:spAutoFit/>
          </a:bodyPr>
          <a:lstStyle/>
          <a:p>
            <a:r>
              <a:rPr lang="he-IL" sz="2400" dirty="0"/>
              <a:t>המשך↓</a:t>
            </a:r>
          </a:p>
        </p:txBody>
      </p:sp>
    </p:spTree>
    <p:extLst>
      <p:ext uri="{BB962C8B-B14F-4D97-AF65-F5344CB8AC3E}">
        <p14:creationId xmlns:p14="http://schemas.microsoft.com/office/powerpoint/2010/main" val="18538505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EE1E6D50-EBAF-4CFF-4AB9-950AFE9247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2596"/>
            <a:ext cx="12237027" cy="7100596"/>
          </a:xfrm>
          <a:prstGeom prst="rect">
            <a:avLst/>
          </a:prstGeom>
        </p:spPr>
      </p:pic>
      <p:sp>
        <p:nvSpPr>
          <p:cNvPr id="14" name="תיבת טקסט 13">
            <a:extLst>
              <a:ext uri="{FF2B5EF4-FFF2-40B4-BE49-F238E27FC236}">
                <a16:creationId xmlns:a16="http://schemas.microsoft.com/office/drawing/2014/main" id="{30D3F8EC-F7D2-20D1-43B2-4AF713904628}"/>
              </a:ext>
            </a:extLst>
          </p:cNvPr>
          <p:cNvSpPr txBox="1"/>
          <p:nvPr/>
        </p:nvSpPr>
        <p:spPr>
          <a:xfrm>
            <a:off x="187206" y="0"/>
            <a:ext cx="11504645" cy="6832640"/>
          </a:xfrm>
          <a:prstGeom prst="rect">
            <a:avLst/>
          </a:prstGeom>
          <a:noFill/>
        </p:spPr>
        <p:txBody>
          <a:bodyPr wrap="square">
            <a:spAutoFit/>
          </a:bodyPr>
          <a:lstStyle/>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@CurrentRoomCost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@NewRoomCost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raiserror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he-IL" sz="1800" dirty="0">
                <a:solidFill>
                  <a:srgbClr val="FF0000"/>
                </a:solidFill>
                <a:latin typeface="Consolas" panose="020B0609020204030204" pitchFamily="49" charset="0"/>
              </a:rPr>
              <a:t>החדר לא נמצא או שמחיר החדר לא תקין.'</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 16</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 1</a:t>
            </a:r>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rollback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return</a:t>
            </a:r>
            <a:r>
              <a:rPr lang="en-US"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end</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@NewPayment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@NewRoomCost</a:t>
            </a:r>
          </a:p>
          <a:p>
            <a:r>
              <a:rPr lang="en-US" sz="1800" dirty="0">
                <a:solidFill>
                  <a:srgbClr val="FF00FF"/>
                </a:solidFill>
                <a:latin typeface="Consolas" panose="020B0609020204030204" pitchFamily="49" charset="0"/>
              </a:rPr>
              <a:t>update</a:t>
            </a:r>
            <a:r>
              <a:rPr lang="en-US" sz="1800" dirty="0">
                <a:solidFill>
                  <a:srgbClr val="000000"/>
                </a:solidFill>
                <a:latin typeface="Consolas" panose="020B0609020204030204" pitchFamily="49" charset="0"/>
              </a:rPr>
              <a:t> Patients</a:t>
            </a: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t>
            </a:r>
          </a:p>
          <a:p>
            <a:r>
              <a:rPr lang="en-US" sz="1800" dirty="0" err="1">
                <a:solidFill>
                  <a:srgbClr val="000000"/>
                </a:solidFill>
                <a:latin typeface="Consolas" panose="020B0609020204030204" pitchFamily="49" charset="0"/>
              </a:rPr>
              <a:t>NumRoom</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@NewNumRoom</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PayMent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@NewPayment</a:t>
            </a:r>
          </a:p>
          <a:p>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p>
          <a:p>
            <a:r>
              <a:rPr lang="en-US" sz="1800" dirty="0" err="1">
                <a:solidFill>
                  <a:srgbClr val="000000"/>
                </a:solidFill>
                <a:latin typeface="Consolas" panose="020B0609020204030204" pitchFamily="49" charset="0"/>
              </a:rPr>
              <a:t>P_Id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@p_Id</a:t>
            </a:r>
          </a:p>
          <a:p>
            <a:r>
              <a:rPr lang="en-US" sz="1800" dirty="0">
                <a:solidFill>
                  <a:srgbClr val="0000FF"/>
                </a:solidFill>
                <a:latin typeface="Consolas" panose="020B0609020204030204" pitchFamily="49" charset="0"/>
              </a:rPr>
              <a:t>commit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print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he-IL" sz="1800" dirty="0">
                <a:solidFill>
                  <a:srgbClr val="FF0000"/>
                </a:solidFill>
                <a:latin typeface="Consolas" panose="020B0609020204030204" pitchFamily="49" charset="0"/>
              </a:rPr>
              <a:t>העברת המטופל והעדכון בוצעו בהצלחה!'</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try</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catch</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@@trancount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&gt;</a:t>
            </a:r>
            <a:r>
              <a:rPr lang="en-US" sz="1800" dirty="0">
                <a:solidFill>
                  <a:srgbClr val="000000"/>
                </a:solidFill>
                <a:latin typeface="Consolas" panose="020B0609020204030204" pitchFamily="49" charset="0"/>
              </a:rPr>
              <a:t> 0</a:t>
            </a: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rollback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en-US" sz="1800" dirty="0">
              <a:solidFill>
                <a:srgbClr val="000000"/>
              </a:solidFill>
              <a:latin typeface="Consolas" panose="020B0609020204030204" pitchFamily="49" charset="0"/>
            </a:endParaRPr>
          </a:p>
          <a:p>
            <a:r>
              <a:rPr lang="en-US" sz="1800" dirty="0" err="1">
                <a:solidFill>
                  <a:srgbClr val="0000FF"/>
                </a:solidFill>
                <a:latin typeface="Consolas" panose="020B0609020204030204" pitchFamily="49" charset="0"/>
              </a:rPr>
              <a:t>raiserror</a:t>
            </a:r>
            <a:r>
              <a:rPr lang="en-US" sz="1800" dirty="0">
                <a:solidFill>
                  <a:srgbClr val="808080"/>
                </a:solidFill>
                <a:latin typeface="Consolas" panose="020B0609020204030204" pitchFamily="49" charset="0"/>
              </a:rPr>
              <a:t>(</a:t>
            </a:r>
            <a:r>
              <a:rPr lang="he-IL" sz="1800" dirty="0">
                <a:solidFill>
                  <a:srgbClr val="FF0000"/>
                </a:solidFill>
                <a:latin typeface="Consolas" panose="020B0609020204030204" pitchFamily="49" charset="0"/>
              </a:rPr>
              <a:t>אירעה שגיאה בלתי צפויה במהלך עדכון נתוני המטופל. אנא בדוק את הפרטים או פנה למנהל.'</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 16</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 1</a:t>
            </a:r>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catch</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en-US" sz="1800" dirty="0">
              <a:solidFill>
                <a:srgbClr val="000000"/>
              </a:solidFill>
              <a:latin typeface="Consolas" panose="020B0609020204030204" pitchFamily="49" charset="0"/>
            </a:endParaRPr>
          </a:p>
        </p:txBody>
      </p:sp>
      <p:sp>
        <p:nvSpPr>
          <p:cNvPr id="5" name="כותרת 1">
            <a:extLst>
              <a:ext uri="{FF2B5EF4-FFF2-40B4-BE49-F238E27FC236}">
                <a16:creationId xmlns:a16="http://schemas.microsoft.com/office/drawing/2014/main" id="{204BA748-6030-54AB-8B09-F20F66FBF323}"/>
              </a:ext>
            </a:extLst>
          </p:cNvPr>
          <p:cNvSpPr txBox="1">
            <a:spLocks/>
          </p:cNvSpPr>
          <p:nvPr/>
        </p:nvSpPr>
        <p:spPr>
          <a:xfrm>
            <a:off x="7212563" y="-156745"/>
            <a:ext cx="2909596"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המשך</a:t>
            </a:r>
          </a:p>
        </p:txBody>
      </p:sp>
    </p:spTree>
    <p:extLst>
      <p:ext uri="{BB962C8B-B14F-4D97-AF65-F5344CB8AC3E}">
        <p14:creationId xmlns:p14="http://schemas.microsoft.com/office/powerpoint/2010/main" val="1961648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DABF6790-4CE0-FBF2-C6DB-3B11A7B7D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14" y="0"/>
            <a:ext cx="12237027" cy="7100596"/>
          </a:xfrm>
          <a:prstGeom prst="rect">
            <a:avLst/>
          </a:prstGeom>
        </p:spPr>
      </p:pic>
      <p:sp>
        <p:nvSpPr>
          <p:cNvPr id="5" name="כותרת 1">
            <a:extLst>
              <a:ext uri="{FF2B5EF4-FFF2-40B4-BE49-F238E27FC236}">
                <a16:creationId xmlns:a16="http://schemas.microsoft.com/office/drawing/2014/main" id="{D3A6DEB9-D498-9A0B-8CDF-442FC869E8E0}"/>
              </a:ext>
            </a:extLst>
          </p:cNvPr>
          <p:cNvSpPr txBox="1">
            <a:spLocks/>
          </p:cNvSpPr>
          <p:nvPr/>
        </p:nvSpPr>
        <p:spPr>
          <a:xfrm>
            <a:off x="8080310" y="284476"/>
            <a:ext cx="2909596"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פרוצדורות</a:t>
            </a:r>
          </a:p>
        </p:txBody>
      </p:sp>
      <p:sp>
        <p:nvSpPr>
          <p:cNvPr id="6" name="תיבת טקסט 5">
            <a:extLst>
              <a:ext uri="{FF2B5EF4-FFF2-40B4-BE49-F238E27FC236}">
                <a16:creationId xmlns:a16="http://schemas.microsoft.com/office/drawing/2014/main" id="{A242811C-1CDE-5D60-B5C0-B7D2B0D2EA5F}"/>
              </a:ext>
            </a:extLst>
          </p:cNvPr>
          <p:cNvSpPr txBox="1"/>
          <p:nvPr/>
        </p:nvSpPr>
        <p:spPr>
          <a:xfrm>
            <a:off x="8369560" y="1425373"/>
            <a:ext cx="2827176" cy="369332"/>
          </a:xfrm>
          <a:prstGeom prst="rect">
            <a:avLst/>
          </a:prstGeom>
          <a:noFill/>
        </p:spPr>
        <p:txBody>
          <a:bodyPr wrap="square" rtlCol="1">
            <a:spAutoFit/>
          </a:bodyPr>
          <a:lstStyle/>
          <a:p>
            <a:r>
              <a:rPr lang="he-IL" dirty="0"/>
              <a:t>3. השכרת ציוד רפואי למטופל</a:t>
            </a:r>
          </a:p>
        </p:txBody>
      </p:sp>
      <p:sp>
        <p:nvSpPr>
          <p:cNvPr id="8" name="תיבת טקסט 7">
            <a:extLst>
              <a:ext uri="{FF2B5EF4-FFF2-40B4-BE49-F238E27FC236}">
                <a16:creationId xmlns:a16="http://schemas.microsoft.com/office/drawing/2014/main" id="{3F279718-00A9-0D4D-4E6D-43532B0E50C1}"/>
              </a:ext>
            </a:extLst>
          </p:cNvPr>
          <p:cNvSpPr txBox="1"/>
          <p:nvPr/>
        </p:nvSpPr>
        <p:spPr>
          <a:xfrm>
            <a:off x="212272" y="177284"/>
            <a:ext cx="8754446" cy="6740307"/>
          </a:xfrm>
          <a:prstGeom prst="rect">
            <a:avLst/>
          </a:prstGeom>
          <a:noFill/>
        </p:spPr>
        <p:txBody>
          <a:bodyPr wrap="square">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procedure</a:t>
            </a:r>
            <a:r>
              <a:rPr lang="en-US" sz="1800" dirty="0">
                <a:solidFill>
                  <a:srgbClr val="000000"/>
                </a:solidFill>
                <a:latin typeface="Consolas" panose="020B0609020204030204" pitchFamily="49" charset="0"/>
              </a:rPr>
              <a:t> Assign</a:t>
            </a:r>
          </a:p>
          <a:p>
            <a:r>
              <a:rPr lang="en-US" sz="1800" dirty="0">
                <a:solidFill>
                  <a:srgbClr val="000000"/>
                </a:solidFill>
                <a:latin typeface="Consolas" panose="020B0609020204030204" pitchFamily="49" charset="0"/>
              </a:rPr>
              <a:t>@P_Id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@ProductCode </a:t>
            </a:r>
            <a:r>
              <a:rPr lang="en-US" sz="1800" dirty="0">
                <a:solidFill>
                  <a:srgbClr val="0000FF"/>
                </a:solidFill>
                <a:latin typeface="Consolas" panose="020B0609020204030204" pitchFamily="49" charset="0"/>
              </a:rPr>
              <a:t>int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nocount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declare</a:t>
            </a:r>
            <a:r>
              <a:rPr lang="en-US" sz="1800" dirty="0">
                <a:solidFill>
                  <a:srgbClr val="000000"/>
                </a:solidFill>
                <a:latin typeface="Consolas" panose="020B0609020204030204" pitchFamily="49" charset="0"/>
              </a:rPr>
              <a:t> @EquipmentAvailableCount </a:t>
            </a:r>
            <a:r>
              <a:rPr lang="en-US" sz="1800" dirty="0">
                <a:solidFill>
                  <a:srgbClr val="0000FF"/>
                </a:solidFill>
                <a:latin typeface="Consolas" panose="020B0609020204030204" pitchFamily="49" charset="0"/>
              </a:rPr>
              <a:t>int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declare</a:t>
            </a:r>
            <a:r>
              <a:rPr lang="en-US" sz="1800" dirty="0">
                <a:solidFill>
                  <a:srgbClr val="000000"/>
                </a:solidFill>
                <a:latin typeface="Consolas" panose="020B0609020204030204" pitchFamily="49" charset="0"/>
              </a:rPr>
              <a:t> @CurrentPatientEquipmentCode </a:t>
            </a:r>
            <a:r>
              <a:rPr lang="en-US" sz="1800" dirty="0">
                <a:solidFill>
                  <a:srgbClr val="0000FF"/>
                </a:solidFill>
                <a:latin typeface="Consolas" panose="020B0609020204030204" pitchFamily="49" charset="0"/>
              </a:rPr>
              <a:t>int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try</a:t>
            </a:r>
            <a:endParaRPr lang="en-US" sz="1800" dirty="0">
              <a:solidFill>
                <a:srgbClr val="000000"/>
              </a:solidFill>
              <a:latin typeface="Consolas" panose="020B0609020204030204" pitchFamily="49" charset="0"/>
            </a:endParaRPr>
          </a:p>
          <a:p>
            <a:r>
              <a:rPr lang="he-IL" sz="1800" dirty="0">
                <a:solidFill>
                  <a:srgbClr val="008000"/>
                </a:solidFill>
                <a:latin typeface="Consolas" panose="020B0609020204030204" pitchFamily="49" charset="0"/>
              </a:rPr>
              <a:t>--בודק שהמטופל קיים</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exists(</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1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Patients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P_Id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@P_Id</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err="1">
                <a:solidFill>
                  <a:srgbClr val="0000FF"/>
                </a:solidFill>
                <a:latin typeface="Consolas" panose="020B0609020204030204" pitchFamily="49" charset="0"/>
              </a:rPr>
              <a:t>raiserror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he-IL" sz="1800" dirty="0">
                <a:solidFill>
                  <a:srgbClr val="FF0000"/>
                </a:solidFill>
                <a:latin typeface="Consolas" panose="020B0609020204030204" pitchFamily="49" charset="0"/>
              </a:rPr>
              <a:t>המטופל עם תעודת זהות %</a:t>
            </a:r>
            <a:r>
              <a:rPr lang="en-US" sz="1800" dirty="0">
                <a:solidFill>
                  <a:srgbClr val="FF0000"/>
                </a:solidFill>
                <a:latin typeface="Consolas" panose="020B0609020204030204" pitchFamily="49" charset="0"/>
              </a:rPr>
              <a:t>s </a:t>
            </a:r>
            <a:r>
              <a:rPr lang="he-IL" sz="1800" dirty="0">
                <a:solidFill>
                  <a:srgbClr val="FF0000"/>
                </a:solidFill>
                <a:latin typeface="Consolas" panose="020B0609020204030204" pitchFamily="49" charset="0"/>
              </a:rPr>
              <a:t>אינו קיים במערכת.'</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 16</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 1</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P_Id</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rollback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return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en-US" sz="1800" dirty="0">
              <a:solidFill>
                <a:srgbClr val="000000"/>
              </a:solidFill>
              <a:latin typeface="Consolas" panose="020B0609020204030204" pitchFamily="49" charset="0"/>
            </a:endParaRPr>
          </a:p>
          <a:p>
            <a:r>
              <a:rPr lang="he-IL" sz="1800" dirty="0">
                <a:solidFill>
                  <a:srgbClr val="008000"/>
                </a:solidFill>
                <a:latin typeface="Consolas" panose="020B0609020204030204" pitchFamily="49" charset="0"/>
              </a:rPr>
              <a:t>--בודק שהמוצר קיים</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exists(</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1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Equipment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PCode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@ProductCode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err="1">
                <a:solidFill>
                  <a:srgbClr val="0000FF"/>
                </a:solidFill>
                <a:latin typeface="Consolas" panose="020B0609020204030204" pitchFamily="49" charset="0"/>
              </a:rPr>
              <a:t>raiserror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 </a:t>
            </a:r>
            <a:r>
              <a:rPr lang="he-IL" sz="1800" dirty="0">
                <a:solidFill>
                  <a:srgbClr val="FF0000"/>
                </a:solidFill>
                <a:latin typeface="Consolas" panose="020B0609020204030204" pitchFamily="49" charset="0"/>
              </a:rPr>
              <a:t>הציוד עם קוד %</a:t>
            </a:r>
            <a:r>
              <a:rPr lang="en-US" sz="1800" dirty="0">
                <a:solidFill>
                  <a:srgbClr val="FF0000"/>
                </a:solidFill>
                <a:latin typeface="Consolas" panose="020B0609020204030204" pitchFamily="49" charset="0"/>
              </a:rPr>
              <a:t>d </a:t>
            </a:r>
            <a:r>
              <a:rPr lang="he-IL" sz="1800" dirty="0">
                <a:solidFill>
                  <a:srgbClr val="FF0000"/>
                </a:solidFill>
                <a:latin typeface="Consolas" panose="020B0609020204030204" pitchFamily="49" charset="0"/>
              </a:rPr>
              <a:t>לא קיים במערכת'</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16</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1</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ProductCode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rollback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return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en-US" sz="1800" dirty="0">
              <a:solidFill>
                <a:srgbClr val="000000"/>
              </a:solidFill>
              <a:latin typeface="Consolas" panose="020B0609020204030204" pitchFamily="49" charset="0"/>
            </a:endParaRPr>
          </a:p>
        </p:txBody>
      </p:sp>
      <p:sp>
        <p:nvSpPr>
          <p:cNvPr id="9" name="תיבת טקסט 8">
            <a:extLst>
              <a:ext uri="{FF2B5EF4-FFF2-40B4-BE49-F238E27FC236}">
                <a16:creationId xmlns:a16="http://schemas.microsoft.com/office/drawing/2014/main" id="{44AD951B-078A-26CF-9063-286A3AE32D16}"/>
              </a:ext>
            </a:extLst>
          </p:cNvPr>
          <p:cNvSpPr txBox="1"/>
          <p:nvPr/>
        </p:nvSpPr>
        <p:spPr>
          <a:xfrm>
            <a:off x="9535108" y="5682342"/>
            <a:ext cx="1296956" cy="461665"/>
          </a:xfrm>
          <a:prstGeom prst="rect">
            <a:avLst/>
          </a:prstGeom>
          <a:noFill/>
        </p:spPr>
        <p:txBody>
          <a:bodyPr wrap="square" rtlCol="1">
            <a:spAutoFit/>
          </a:bodyPr>
          <a:lstStyle/>
          <a:p>
            <a:r>
              <a:rPr lang="he-IL" sz="2400" dirty="0"/>
              <a:t>המשך↓</a:t>
            </a:r>
          </a:p>
        </p:txBody>
      </p:sp>
    </p:spTree>
    <p:extLst>
      <p:ext uri="{BB962C8B-B14F-4D97-AF65-F5344CB8AC3E}">
        <p14:creationId xmlns:p14="http://schemas.microsoft.com/office/powerpoint/2010/main" val="636836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282E3399-1FCE-5FF1-7471-377A7806AA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2596"/>
            <a:ext cx="12237027" cy="7100596"/>
          </a:xfrm>
          <a:prstGeom prst="rect">
            <a:avLst/>
          </a:prstGeom>
        </p:spPr>
      </p:pic>
      <p:sp>
        <p:nvSpPr>
          <p:cNvPr id="6" name="תיבת טקסט 5">
            <a:extLst>
              <a:ext uri="{FF2B5EF4-FFF2-40B4-BE49-F238E27FC236}">
                <a16:creationId xmlns:a16="http://schemas.microsoft.com/office/drawing/2014/main" id="{5B35F3E6-6855-8B0C-474E-E9DE822E9AAE}"/>
              </a:ext>
            </a:extLst>
          </p:cNvPr>
          <p:cNvSpPr txBox="1"/>
          <p:nvPr/>
        </p:nvSpPr>
        <p:spPr>
          <a:xfrm>
            <a:off x="100303" y="-356652"/>
            <a:ext cx="7690757" cy="7571303"/>
          </a:xfrm>
          <a:prstGeom prst="rect">
            <a:avLst/>
          </a:prstGeom>
          <a:noFill/>
        </p:spPr>
        <p:txBody>
          <a:bodyPr wrap="square">
            <a:spAutoFit/>
          </a:bodyPr>
          <a:lstStyle/>
          <a:p>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if</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CountAvailabil</a:t>
            </a:r>
            <a:r>
              <a:rPr lang="en-US" sz="1800" dirty="0">
                <a:solidFill>
                  <a:srgbClr val="000000"/>
                </a:solidFill>
                <a:latin typeface="Consolas" panose="020B0609020204030204" pitchFamily="49" charset="0"/>
              </a:rPr>
              <a:t>) </a:t>
            </a:r>
            <a:r>
              <a:rPr lang="he-IL" dirty="0">
                <a:solidFill>
                  <a:srgbClr val="008000"/>
                </a:solidFill>
                <a:latin typeface="Consolas" panose="020B0609020204030204" pitchFamily="49" charset="0"/>
              </a:rPr>
              <a:t>--בודק שהמוצר קיים במלאי</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Equipment </a:t>
            </a:r>
          </a:p>
          <a:p>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PCode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@ProductCode</a:t>
            </a:r>
            <a:r>
              <a:rPr lang="en-US" sz="1800" dirty="0">
                <a:solidFill>
                  <a:srgbClr val="808080"/>
                </a:solidFill>
                <a:latin typeface="Consolas" panose="020B0609020204030204" pitchFamily="49" charset="0"/>
              </a:rPr>
              <a:t>)&lt;=</a:t>
            </a:r>
            <a:r>
              <a:rPr lang="en-US" sz="1800" dirty="0">
                <a:solidFill>
                  <a:srgbClr val="000000"/>
                </a:solidFill>
                <a:latin typeface="Consolas" panose="020B0609020204030204" pitchFamily="49" charset="0"/>
              </a:rPr>
              <a:t>0</a:t>
            </a: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err="1">
                <a:solidFill>
                  <a:srgbClr val="0000FF"/>
                </a:solidFill>
                <a:latin typeface="Consolas" panose="020B0609020204030204" pitchFamily="49" charset="0"/>
              </a:rPr>
              <a:t>raiserror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he-IL" sz="1800" dirty="0">
                <a:solidFill>
                  <a:srgbClr val="FF0000"/>
                </a:solidFill>
                <a:latin typeface="Consolas" panose="020B0609020204030204" pitchFamily="49" charset="0"/>
              </a:rPr>
              <a:t>הציוד המבוקש לא נמצא במלאי כעת'</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16</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1</a:t>
            </a:r>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rollback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return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en-US" sz="1800" dirty="0">
              <a:solidFill>
                <a:srgbClr val="000000"/>
              </a:solidFill>
              <a:latin typeface="Consolas" panose="020B0609020204030204" pitchFamily="49" charset="0"/>
            </a:endParaRPr>
          </a:p>
          <a:p>
            <a:r>
              <a:rPr lang="en-US" sz="1800" dirty="0">
                <a:solidFill>
                  <a:srgbClr val="FF00FF"/>
                </a:solidFill>
                <a:latin typeface="Consolas" panose="020B0609020204030204" pitchFamily="49" charset="0"/>
              </a:rPr>
              <a:t>update</a:t>
            </a:r>
            <a:r>
              <a:rPr lang="en-US" sz="1800" dirty="0">
                <a:solidFill>
                  <a:srgbClr val="000000"/>
                </a:solidFill>
                <a:latin typeface="Consolas" panose="020B0609020204030204" pitchFamily="49" charset="0"/>
              </a:rPr>
              <a:t> Patients</a:t>
            </a: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ProductCode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@ProductCode</a:t>
            </a:r>
          </a:p>
          <a:p>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@P_Id</a:t>
            </a:r>
          </a:p>
          <a:p>
            <a:r>
              <a:rPr lang="en-US" sz="1800" dirty="0">
                <a:solidFill>
                  <a:srgbClr val="FF00FF"/>
                </a:solidFill>
                <a:latin typeface="Consolas" panose="020B0609020204030204" pitchFamily="49" charset="0"/>
              </a:rPr>
              <a:t>update</a:t>
            </a:r>
            <a:r>
              <a:rPr lang="en-US" sz="1800" dirty="0">
                <a:solidFill>
                  <a:srgbClr val="000000"/>
                </a:solidFill>
                <a:latin typeface="Consolas" panose="020B0609020204030204" pitchFamily="49" charset="0"/>
              </a:rPr>
              <a:t> Equipment</a:t>
            </a: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CountAvailabil</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CountAvailabil</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a:t>
            </a:r>
          </a:p>
          <a:p>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PCode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@ProductCode</a:t>
            </a:r>
          </a:p>
          <a:p>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print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he-IL" sz="1800" dirty="0">
                <a:solidFill>
                  <a:srgbClr val="FF0000"/>
                </a:solidFill>
                <a:latin typeface="Consolas" panose="020B0609020204030204" pitchFamily="49" charset="0"/>
              </a:rPr>
              <a:t>הפעולה בוצעה בהצלחה'</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commit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try</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catch</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@@trancount</a:t>
            </a:r>
            <a:r>
              <a:rPr lang="en-US" sz="1800" dirty="0">
                <a:solidFill>
                  <a:srgbClr val="808080"/>
                </a:solidFill>
                <a:latin typeface="Consolas" panose="020B0609020204030204" pitchFamily="49" charset="0"/>
              </a:rPr>
              <a:t>&gt;</a:t>
            </a:r>
            <a:r>
              <a:rPr lang="en-US" sz="1800" dirty="0">
                <a:solidFill>
                  <a:srgbClr val="000000"/>
                </a:solidFill>
                <a:latin typeface="Consolas" panose="020B0609020204030204" pitchFamily="49" charset="0"/>
              </a:rPr>
              <a:t>0</a:t>
            </a: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rollback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end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catch</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he-IL" dirty="0"/>
          </a:p>
        </p:txBody>
      </p:sp>
      <p:sp>
        <p:nvSpPr>
          <p:cNvPr id="9" name="כותרת 1">
            <a:extLst>
              <a:ext uri="{FF2B5EF4-FFF2-40B4-BE49-F238E27FC236}">
                <a16:creationId xmlns:a16="http://schemas.microsoft.com/office/drawing/2014/main" id="{811AD63D-C2EF-5CAC-5369-9DAC48BB7C47}"/>
              </a:ext>
            </a:extLst>
          </p:cNvPr>
          <p:cNvSpPr txBox="1">
            <a:spLocks/>
          </p:cNvSpPr>
          <p:nvPr/>
        </p:nvSpPr>
        <p:spPr>
          <a:xfrm>
            <a:off x="8061649" y="144517"/>
            <a:ext cx="2909596"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המשך</a:t>
            </a:r>
          </a:p>
        </p:txBody>
      </p:sp>
    </p:spTree>
    <p:extLst>
      <p:ext uri="{BB962C8B-B14F-4D97-AF65-F5344CB8AC3E}">
        <p14:creationId xmlns:p14="http://schemas.microsoft.com/office/powerpoint/2010/main" val="1611237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FB593-E2AE-1EB3-9BD5-D5FFBBF3EDD9}"/>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F3EED0EB-95CA-04FB-37E2-ED5927694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2596"/>
            <a:ext cx="12237027" cy="7100596"/>
          </a:xfrm>
          <a:prstGeom prst="rect">
            <a:avLst/>
          </a:prstGeom>
        </p:spPr>
      </p:pic>
      <p:sp>
        <p:nvSpPr>
          <p:cNvPr id="2" name="כותרת 1">
            <a:extLst>
              <a:ext uri="{FF2B5EF4-FFF2-40B4-BE49-F238E27FC236}">
                <a16:creationId xmlns:a16="http://schemas.microsoft.com/office/drawing/2014/main" id="{ACD89E0A-B466-10AA-4458-FECEF15B4EBA}"/>
              </a:ext>
            </a:extLst>
          </p:cNvPr>
          <p:cNvSpPr txBox="1">
            <a:spLocks/>
          </p:cNvSpPr>
          <p:nvPr/>
        </p:nvSpPr>
        <p:spPr>
          <a:xfrm>
            <a:off x="8070980" y="0"/>
            <a:ext cx="2909596"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פרוצדורות</a:t>
            </a:r>
          </a:p>
        </p:txBody>
      </p:sp>
      <p:sp>
        <p:nvSpPr>
          <p:cNvPr id="3" name="תיבת טקסט 2">
            <a:extLst>
              <a:ext uri="{FF2B5EF4-FFF2-40B4-BE49-F238E27FC236}">
                <a16:creationId xmlns:a16="http://schemas.microsoft.com/office/drawing/2014/main" id="{58EC67AE-AA70-F3C9-C7BC-98AF1F1375CB}"/>
              </a:ext>
            </a:extLst>
          </p:cNvPr>
          <p:cNvSpPr txBox="1"/>
          <p:nvPr/>
        </p:nvSpPr>
        <p:spPr>
          <a:xfrm>
            <a:off x="6870442" y="1184043"/>
            <a:ext cx="4998098" cy="369332"/>
          </a:xfrm>
          <a:prstGeom prst="rect">
            <a:avLst/>
          </a:prstGeom>
          <a:noFill/>
        </p:spPr>
        <p:txBody>
          <a:bodyPr wrap="square" rtlCol="1">
            <a:spAutoFit/>
          </a:bodyPr>
          <a:lstStyle/>
          <a:p>
            <a:r>
              <a:rPr lang="he-IL" dirty="0"/>
              <a:t>4. פרוצדורה שמעדכנת את המחיר של ציוד רפואי</a:t>
            </a:r>
          </a:p>
        </p:txBody>
      </p:sp>
      <p:sp>
        <p:nvSpPr>
          <p:cNvPr id="6" name="תיבת טקסט 5">
            <a:extLst>
              <a:ext uri="{FF2B5EF4-FFF2-40B4-BE49-F238E27FC236}">
                <a16:creationId xmlns:a16="http://schemas.microsoft.com/office/drawing/2014/main" id="{1755B57E-501D-3157-CEB9-6E9E3F524C02}"/>
              </a:ext>
            </a:extLst>
          </p:cNvPr>
          <p:cNvSpPr txBox="1"/>
          <p:nvPr/>
        </p:nvSpPr>
        <p:spPr>
          <a:xfrm>
            <a:off x="564206" y="360289"/>
            <a:ext cx="8362561" cy="6740307"/>
          </a:xfrm>
          <a:prstGeom prst="rect">
            <a:avLst/>
          </a:prstGeom>
          <a:noFill/>
        </p:spPr>
        <p:txBody>
          <a:bodyPr wrap="square">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procedure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UpdateEquipmentPrice</a:t>
            </a:r>
            <a:r>
              <a:rPr lang="en-US" sz="1800" dirty="0">
                <a:solidFill>
                  <a:srgbClr val="000000"/>
                </a:solidFill>
                <a:latin typeface="Consolas" panose="020B0609020204030204" pitchFamily="49" charset="0"/>
              </a:rPr>
              <a:t> </a:t>
            </a:r>
          </a:p>
          <a:p>
            <a:r>
              <a:rPr lang="en-US" sz="1800" dirty="0">
                <a:solidFill>
                  <a:srgbClr val="000000"/>
                </a:solidFill>
                <a:latin typeface="Consolas" panose="020B0609020204030204" pitchFamily="49" charset="0"/>
              </a:rPr>
              <a:t>@PCode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@NewPrice </a:t>
            </a:r>
            <a:r>
              <a:rPr lang="en-US" sz="1800" dirty="0">
                <a:solidFill>
                  <a:srgbClr val="0000FF"/>
                </a:solidFill>
                <a:latin typeface="Consolas" panose="020B0609020204030204" pitchFamily="49" charset="0"/>
              </a:rPr>
              <a:t>int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nocount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try</a:t>
            </a:r>
            <a:endParaRPr lang="en-US" sz="1800" dirty="0">
              <a:solidFill>
                <a:srgbClr val="000000"/>
              </a:solidFill>
              <a:latin typeface="Consolas" panose="020B0609020204030204" pitchFamily="49" charset="0"/>
            </a:endParaRPr>
          </a:p>
          <a:p>
            <a:r>
              <a:rPr lang="he-IL" sz="1800" dirty="0">
                <a:solidFill>
                  <a:srgbClr val="008000"/>
                </a:solidFill>
                <a:latin typeface="Consolas" panose="020B0609020204030204" pitchFamily="49" charset="0"/>
              </a:rPr>
              <a:t>--בודק האם המוצר קיים </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exists(</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1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Equipment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PCode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@PCode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err="1">
                <a:solidFill>
                  <a:srgbClr val="0000FF"/>
                </a:solidFill>
                <a:latin typeface="Consolas" panose="020B0609020204030204" pitchFamily="49" charset="0"/>
              </a:rPr>
              <a:t>raiserror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 </a:t>
            </a:r>
            <a:r>
              <a:rPr lang="he-IL" sz="1800" dirty="0">
                <a:solidFill>
                  <a:srgbClr val="FF0000"/>
                </a:solidFill>
                <a:latin typeface="Consolas" panose="020B0609020204030204" pitchFamily="49" charset="0"/>
              </a:rPr>
              <a:t>הציוד עם קוד %</a:t>
            </a:r>
            <a:r>
              <a:rPr lang="en-US" sz="1800" dirty="0">
                <a:solidFill>
                  <a:srgbClr val="FF0000"/>
                </a:solidFill>
                <a:latin typeface="Consolas" panose="020B0609020204030204" pitchFamily="49" charset="0"/>
              </a:rPr>
              <a:t>d </a:t>
            </a:r>
            <a:r>
              <a:rPr lang="he-IL" sz="1800" dirty="0">
                <a:solidFill>
                  <a:srgbClr val="FF0000"/>
                </a:solidFill>
                <a:latin typeface="Consolas" panose="020B0609020204030204" pitchFamily="49" charset="0"/>
              </a:rPr>
              <a:t>לא קיים במערכת'</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16</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1</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PCode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rollback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return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en-US" sz="1800" dirty="0">
              <a:solidFill>
                <a:srgbClr val="000000"/>
              </a:solidFill>
              <a:latin typeface="Consolas" panose="020B0609020204030204" pitchFamily="49" charset="0"/>
            </a:endParaRPr>
          </a:p>
          <a:p>
            <a:r>
              <a:rPr lang="he-IL" sz="1800" dirty="0">
                <a:solidFill>
                  <a:srgbClr val="008000"/>
                </a:solidFill>
                <a:latin typeface="Consolas" panose="020B0609020204030204" pitchFamily="49" charset="0"/>
              </a:rPr>
              <a:t>-- בודק שהמחיר חיובי</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@NewPrice</a:t>
            </a:r>
            <a:r>
              <a:rPr lang="en-US" sz="1800" dirty="0">
                <a:solidFill>
                  <a:srgbClr val="808080"/>
                </a:solidFill>
                <a:latin typeface="Consolas" panose="020B0609020204030204" pitchFamily="49" charset="0"/>
              </a:rPr>
              <a:t>&lt;=</a:t>
            </a:r>
            <a:r>
              <a:rPr lang="en-US" sz="1800" dirty="0">
                <a:solidFill>
                  <a:srgbClr val="000000"/>
                </a:solidFill>
                <a:latin typeface="Consolas" panose="020B0609020204030204" pitchFamily="49" charset="0"/>
              </a:rPr>
              <a:t>0</a:t>
            </a: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err="1">
                <a:solidFill>
                  <a:srgbClr val="0000FF"/>
                </a:solidFill>
                <a:latin typeface="Consolas" panose="020B0609020204030204" pitchFamily="49" charset="0"/>
              </a:rPr>
              <a:t>raiserror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he-IL" sz="1800" dirty="0">
                <a:solidFill>
                  <a:srgbClr val="FF0000"/>
                </a:solidFill>
                <a:latin typeface="Consolas" panose="020B0609020204030204" pitchFamily="49" charset="0"/>
              </a:rPr>
              <a:t>המחיר חייב </a:t>
            </a:r>
            <a:r>
              <a:rPr lang="he-IL" sz="1800" dirty="0" err="1">
                <a:solidFill>
                  <a:srgbClr val="FF0000"/>
                </a:solidFill>
                <a:latin typeface="Consolas" panose="020B0609020204030204" pitchFamily="49" charset="0"/>
              </a:rPr>
              <a:t>ליהיות</a:t>
            </a:r>
            <a:r>
              <a:rPr lang="he-IL" sz="1800" dirty="0">
                <a:solidFill>
                  <a:srgbClr val="FF0000"/>
                </a:solidFill>
                <a:latin typeface="Consolas" panose="020B0609020204030204" pitchFamily="49" charset="0"/>
              </a:rPr>
              <a:t> חיובי'</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16</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1</a:t>
            </a:r>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rollback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return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en-US" sz="1800" dirty="0">
              <a:solidFill>
                <a:srgbClr val="000000"/>
              </a:solidFill>
              <a:latin typeface="Consolas" panose="020B0609020204030204" pitchFamily="49" charset="0"/>
            </a:endParaRPr>
          </a:p>
          <a:p>
            <a:endParaRPr lang="he-IL" sz="1800" dirty="0">
              <a:solidFill>
                <a:srgbClr val="000000"/>
              </a:solidFill>
              <a:latin typeface="Consolas" panose="020B0609020204030204" pitchFamily="49" charset="0"/>
            </a:endParaRPr>
          </a:p>
          <a:p>
            <a:endParaRPr lang="en-US" sz="1800" dirty="0">
              <a:solidFill>
                <a:srgbClr val="000000"/>
              </a:solidFill>
              <a:latin typeface="Consolas" panose="020B0609020204030204" pitchFamily="49" charset="0"/>
            </a:endParaRPr>
          </a:p>
        </p:txBody>
      </p:sp>
      <p:sp>
        <p:nvSpPr>
          <p:cNvPr id="8" name="תיבת טקסט 7">
            <a:extLst>
              <a:ext uri="{FF2B5EF4-FFF2-40B4-BE49-F238E27FC236}">
                <a16:creationId xmlns:a16="http://schemas.microsoft.com/office/drawing/2014/main" id="{3163A175-E624-2BD8-87CC-E364656EFA17}"/>
              </a:ext>
            </a:extLst>
          </p:cNvPr>
          <p:cNvSpPr txBox="1"/>
          <p:nvPr/>
        </p:nvSpPr>
        <p:spPr>
          <a:xfrm>
            <a:off x="8404549" y="2709056"/>
            <a:ext cx="6190860" cy="3693319"/>
          </a:xfrm>
          <a:prstGeom prst="rect">
            <a:avLst/>
          </a:prstGeom>
          <a:noFill/>
        </p:spPr>
        <p:txBody>
          <a:bodyPr wrap="square">
            <a:spAutoFit/>
          </a:bodyPr>
          <a:lstStyle/>
          <a:p>
            <a:r>
              <a:rPr lang="en-US" sz="1800" dirty="0">
                <a:solidFill>
                  <a:srgbClr val="FF00FF"/>
                </a:solidFill>
                <a:latin typeface="Consolas" panose="020B0609020204030204" pitchFamily="49" charset="0"/>
              </a:rPr>
              <a:t>update</a:t>
            </a:r>
            <a:r>
              <a:rPr lang="en-US" sz="1800" dirty="0">
                <a:solidFill>
                  <a:srgbClr val="000000"/>
                </a:solidFill>
                <a:latin typeface="Consolas" panose="020B0609020204030204" pitchFamily="49" charset="0"/>
              </a:rPr>
              <a:t> Equipment</a:t>
            </a: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PPrice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@NewPrice</a:t>
            </a:r>
          </a:p>
          <a:p>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PCode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@PCode</a:t>
            </a:r>
          </a:p>
          <a:p>
            <a:r>
              <a:rPr lang="en-US" sz="1800" dirty="0">
                <a:solidFill>
                  <a:srgbClr val="0000FF"/>
                </a:solidFill>
                <a:latin typeface="Consolas" panose="020B0609020204030204" pitchFamily="49" charset="0"/>
              </a:rPr>
              <a:t>commit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print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he-IL" sz="1800" dirty="0">
                <a:solidFill>
                  <a:srgbClr val="FF0000"/>
                </a:solidFill>
                <a:latin typeface="Consolas" panose="020B0609020204030204" pitchFamily="49" charset="0"/>
              </a:rPr>
              <a:t>המחיר עודכן בהצלחה'</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try</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catch</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@@trancount</a:t>
            </a:r>
            <a:r>
              <a:rPr lang="en-US" sz="1800" dirty="0">
                <a:solidFill>
                  <a:srgbClr val="808080"/>
                </a:solidFill>
                <a:latin typeface="Consolas" panose="020B0609020204030204" pitchFamily="49" charset="0"/>
              </a:rPr>
              <a:t>&gt;</a:t>
            </a:r>
            <a:r>
              <a:rPr lang="en-US" sz="1800" dirty="0">
                <a:solidFill>
                  <a:srgbClr val="000000"/>
                </a:solidFill>
                <a:latin typeface="Consolas" panose="020B0609020204030204" pitchFamily="49" charset="0"/>
              </a:rPr>
              <a:t>0</a:t>
            </a: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rollback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end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catch</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he-IL" dirty="0"/>
          </a:p>
        </p:txBody>
      </p:sp>
    </p:spTree>
    <p:extLst>
      <p:ext uri="{BB962C8B-B14F-4D97-AF65-F5344CB8AC3E}">
        <p14:creationId xmlns:p14="http://schemas.microsoft.com/office/powerpoint/2010/main" val="1716738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1C5C7-E7A4-042A-6096-CFC1D09EC4BB}"/>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392181AA-ACFF-5432-8149-2983AD9D6B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2596"/>
            <a:ext cx="12237027" cy="7100596"/>
          </a:xfrm>
          <a:prstGeom prst="rect">
            <a:avLst/>
          </a:prstGeom>
        </p:spPr>
      </p:pic>
      <p:sp>
        <p:nvSpPr>
          <p:cNvPr id="2" name="כותרת 1">
            <a:extLst>
              <a:ext uri="{FF2B5EF4-FFF2-40B4-BE49-F238E27FC236}">
                <a16:creationId xmlns:a16="http://schemas.microsoft.com/office/drawing/2014/main" id="{3DE7F375-C037-B2B4-C27C-34A576BC7889}"/>
              </a:ext>
            </a:extLst>
          </p:cNvPr>
          <p:cNvSpPr txBox="1">
            <a:spLocks/>
          </p:cNvSpPr>
          <p:nvPr/>
        </p:nvSpPr>
        <p:spPr>
          <a:xfrm>
            <a:off x="8070980" y="0"/>
            <a:ext cx="2909596"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פרוצדורות</a:t>
            </a:r>
          </a:p>
        </p:txBody>
      </p:sp>
      <p:sp>
        <p:nvSpPr>
          <p:cNvPr id="3" name="תיבת טקסט 2">
            <a:extLst>
              <a:ext uri="{FF2B5EF4-FFF2-40B4-BE49-F238E27FC236}">
                <a16:creationId xmlns:a16="http://schemas.microsoft.com/office/drawing/2014/main" id="{0047F574-E87F-E17E-A35D-50039F3B6A53}"/>
              </a:ext>
            </a:extLst>
          </p:cNvPr>
          <p:cNvSpPr txBox="1"/>
          <p:nvPr/>
        </p:nvSpPr>
        <p:spPr>
          <a:xfrm>
            <a:off x="5934270" y="1056105"/>
            <a:ext cx="5458408" cy="369332"/>
          </a:xfrm>
          <a:prstGeom prst="rect">
            <a:avLst/>
          </a:prstGeom>
          <a:noFill/>
        </p:spPr>
        <p:txBody>
          <a:bodyPr wrap="square" rtlCol="1">
            <a:spAutoFit/>
          </a:bodyPr>
          <a:lstStyle/>
          <a:p>
            <a:r>
              <a:rPr lang="he-IL" dirty="0"/>
              <a:t>5. פרוצדורה שמעדכנת פרטים של מטופל (טלפון או כתובת)</a:t>
            </a:r>
          </a:p>
        </p:txBody>
      </p:sp>
      <p:sp>
        <p:nvSpPr>
          <p:cNvPr id="6" name="תיבת טקסט 5">
            <a:extLst>
              <a:ext uri="{FF2B5EF4-FFF2-40B4-BE49-F238E27FC236}">
                <a16:creationId xmlns:a16="http://schemas.microsoft.com/office/drawing/2014/main" id="{9373900B-A4F4-813D-F54A-A2ABA18E18F8}"/>
              </a:ext>
            </a:extLst>
          </p:cNvPr>
          <p:cNvSpPr txBox="1"/>
          <p:nvPr/>
        </p:nvSpPr>
        <p:spPr>
          <a:xfrm>
            <a:off x="319576" y="1140897"/>
            <a:ext cx="6190860" cy="5078313"/>
          </a:xfrm>
          <a:prstGeom prst="rect">
            <a:avLst/>
          </a:prstGeom>
          <a:noFill/>
        </p:spPr>
        <p:txBody>
          <a:bodyPr wrap="square">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procedure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UpdatePatient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@P_Id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@NewPhone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@NewAddress </a:t>
            </a:r>
            <a:r>
              <a:rPr lang="en-US" sz="1800" dirty="0" err="1">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nocount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try</a:t>
            </a:r>
            <a:endParaRPr lang="en-US" sz="1800" dirty="0">
              <a:solidFill>
                <a:srgbClr val="000000"/>
              </a:solidFill>
              <a:latin typeface="Consolas" panose="020B0609020204030204" pitchFamily="49" charset="0"/>
            </a:endParaRPr>
          </a:p>
          <a:p>
            <a:r>
              <a:rPr lang="he-IL" sz="1800" dirty="0">
                <a:solidFill>
                  <a:srgbClr val="008000"/>
                </a:solidFill>
                <a:latin typeface="Consolas" panose="020B0609020204030204" pitchFamily="49" charset="0"/>
              </a:rPr>
              <a:t>--בודק שהמטופל קיים</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exists(</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1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Patients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P_Id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@P_Id</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err="1">
                <a:solidFill>
                  <a:srgbClr val="0000FF"/>
                </a:solidFill>
                <a:latin typeface="Consolas" panose="020B0609020204030204" pitchFamily="49" charset="0"/>
              </a:rPr>
              <a:t>raiserror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he-IL" sz="1800" dirty="0">
                <a:solidFill>
                  <a:srgbClr val="FF0000"/>
                </a:solidFill>
                <a:latin typeface="Consolas" panose="020B0609020204030204" pitchFamily="49" charset="0"/>
              </a:rPr>
              <a:t>לא קיים במערכת מטופל %</a:t>
            </a:r>
            <a:r>
              <a:rPr lang="en-US" sz="1800" dirty="0">
                <a:solidFill>
                  <a:srgbClr val="FF0000"/>
                </a:solidFill>
                <a:latin typeface="Consolas" panose="020B0609020204030204" pitchFamily="49" charset="0"/>
              </a:rPr>
              <a:t>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16</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@P_Id</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rollback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return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en-US" sz="1800" dirty="0">
              <a:solidFill>
                <a:srgbClr val="000000"/>
              </a:solidFill>
              <a:latin typeface="Consolas" panose="020B0609020204030204" pitchFamily="49" charset="0"/>
            </a:endParaRPr>
          </a:p>
          <a:p>
            <a:endParaRPr lang="he-IL" dirty="0"/>
          </a:p>
        </p:txBody>
      </p:sp>
      <p:sp>
        <p:nvSpPr>
          <p:cNvPr id="8" name="תיבת טקסט 7">
            <a:extLst>
              <a:ext uri="{FF2B5EF4-FFF2-40B4-BE49-F238E27FC236}">
                <a16:creationId xmlns:a16="http://schemas.microsoft.com/office/drawing/2014/main" id="{0086A13F-4B4C-8404-56DB-500BCA76A6D1}"/>
              </a:ext>
            </a:extLst>
          </p:cNvPr>
          <p:cNvSpPr txBox="1"/>
          <p:nvPr/>
        </p:nvSpPr>
        <p:spPr>
          <a:xfrm>
            <a:off x="6748366" y="1694895"/>
            <a:ext cx="5353438" cy="4524315"/>
          </a:xfrm>
          <a:prstGeom prst="rect">
            <a:avLst/>
          </a:prstGeom>
          <a:noFill/>
        </p:spPr>
        <p:txBody>
          <a:bodyPr wrap="square">
            <a:spAutoFit/>
          </a:bodyPr>
          <a:lstStyle/>
          <a:p>
            <a:r>
              <a:rPr lang="en-US" sz="1800" dirty="0">
                <a:solidFill>
                  <a:srgbClr val="FF00FF"/>
                </a:solidFill>
                <a:latin typeface="Consolas" panose="020B0609020204030204" pitchFamily="49" charset="0"/>
              </a:rPr>
              <a:t>update</a:t>
            </a:r>
            <a:r>
              <a:rPr lang="en-US" sz="1800" dirty="0">
                <a:solidFill>
                  <a:srgbClr val="000000"/>
                </a:solidFill>
                <a:latin typeface="Consolas" panose="020B0609020204030204" pitchFamily="49" charset="0"/>
              </a:rPr>
              <a:t> Patients</a:t>
            </a: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t>
            </a:r>
          </a:p>
          <a:p>
            <a:r>
              <a:rPr lang="en-US" sz="1800" dirty="0" err="1">
                <a:solidFill>
                  <a:srgbClr val="000000"/>
                </a:solidFill>
                <a:latin typeface="Consolas" panose="020B0609020204030204" pitchFamily="49" charset="0"/>
              </a:rPr>
              <a:t>P_Phone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FF00FF"/>
                </a:solidFill>
                <a:latin typeface="Consolas" panose="020B0609020204030204" pitchFamily="49" charset="0"/>
              </a:rPr>
              <a:t>isnull</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@NewPhone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P_Phone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P_Address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FF00FF"/>
                </a:solidFill>
                <a:latin typeface="Consolas" panose="020B0609020204030204" pitchFamily="49" charset="0"/>
              </a:rPr>
              <a:t>isnull</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@NewAddress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P_Address</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P_Id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@P_Id</a:t>
            </a:r>
          </a:p>
          <a:p>
            <a:r>
              <a:rPr lang="en-US" sz="1800" dirty="0">
                <a:solidFill>
                  <a:srgbClr val="0000FF"/>
                </a:solidFill>
                <a:latin typeface="Consolas" panose="020B0609020204030204" pitchFamily="49" charset="0"/>
              </a:rPr>
              <a:t>commit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print</a:t>
            </a:r>
            <a:r>
              <a:rPr lang="en-US" sz="1800" dirty="0">
                <a:solidFill>
                  <a:srgbClr val="000000"/>
                </a:solidFill>
                <a:latin typeface="Consolas" panose="020B0609020204030204" pitchFamily="49" charset="0"/>
              </a:rPr>
              <a:t> </a:t>
            </a:r>
            <a:r>
              <a:rPr lang="he-IL" sz="1800" dirty="0">
                <a:solidFill>
                  <a:srgbClr val="FF0000"/>
                </a:solidFill>
                <a:latin typeface="Consolas" panose="020B0609020204030204" pitchFamily="49" charset="0"/>
              </a:rPr>
              <a:t>הפרטים עודכנו בהצלחה'</a:t>
            </a:r>
            <a:r>
              <a:rPr lang="he-IL" dirty="0">
                <a:solidFill>
                  <a:srgbClr val="FF0000"/>
                </a:solidFill>
                <a:latin typeface="Consolas" panose="020B0609020204030204" pitchFamily="49" charset="0"/>
              </a:rPr>
              <a:t>'</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try</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catch</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@@trancount</a:t>
            </a:r>
            <a:r>
              <a:rPr lang="en-US" sz="1800" dirty="0">
                <a:solidFill>
                  <a:srgbClr val="808080"/>
                </a:solidFill>
                <a:latin typeface="Consolas" panose="020B0609020204030204" pitchFamily="49" charset="0"/>
              </a:rPr>
              <a:t>&gt;</a:t>
            </a:r>
            <a:r>
              <a:rPr lang="en-US" sz="1800" dirty="0">
                <a:solidFill>
                  <a:srgbClr val="000000"/>
                </a:solidFill>
                <a:latin typeface="Consolas" panose="020B0609020204030204" pitchFamily="49" charset="0"/>
              </a:rPr>
              <a:t>0</a:t>
            </a: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rollback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transaction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en-US" sz="1800" dirty="0">
              <a:solidFill>
                <a:srgbClr val="000000"/>
              </a:solidFill>
              <a:latin typeface="Consolas" panose="020B0609020204030204" pitchFamily="49" charset="0"/>
            </a:endParaRPr>
          </a:p>
          <a:p>
            <a:r>
              <a:rPr lang="en-US" sz="1800" dirty="0" err="1">
                <a:solidFill>
                  <a:srgbClr val="0000FF"/>
                </a:solidFill>
                <a:latin typeface="Consolas" panose="020B0609020204030204" pitchFamily="49" charset="0"/>
              </a:rPr>
              <a:t>raiserror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he-IL" sz="1800" dirty="0">
                <a:solidFill>
                  <a:srgbClr val="FF0000"/>
                </a:solidFill>
                <a:latin typeface="Consolas" panose="020B0609020204030204" pitchFamily="49" charset="0"/>
              </a:rPr>
              <a:t>אירעה שגיאה נסה שוב'</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16</a:t>
            </a:r>
            <a:r>
              <a:rPr lang="he-IL" sz="1800" dirty="0">
                <a:solidFill>
                  <a:srgbClr val="808080"/>
                </a:solidFill>
                <a:latin typeface="Consolas" panose="020B0609020204030204" pitchFamily="49" charset="0"/>
              </a:rPr>
              <a:t>,</a:t>
            </a:r>
            <a:r>
              <a:rPr lang="he-IL" sz="1800" dirty="0">
                <a:solidFill>
                  <a:srgbClr val="000000"/>
                </a:solidFill>
                <a:latin typeface="Consolas" panose="020B0609020204030204" pitchFamily="49" charset="0"/>
              </a:rPr>
              <a:t>1</a:t>
            </a:r>
            <a:r>
              <a:rPr lang="he-IL" sz="1800" dirty="0">
                <a:solidFill>
                  <a:srgbClr val="808080"/>
                </a:solidFill>
                <a:latin typeface="Consolas" panose="020B0609020204030204" pitchFamily="49" charset="0"/>
              </a:rPr>
              <a:t>)</a:t>
            </a:r>
            <a:endParaRPr lang="he-IL"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catch</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he-IL" dirty="0"/>
          </a:p>
        </p:txBody>
      </p:sp>
    </p:spTree>
    <p:extLst>
      <p:ext uri="{BB962C8B-B14F-4D97-AF65-F5344CB8AC3E}">
        <p14:creationId xmlns:p14="http://schemas.microsoft.com/office/powerpoint/2010/main" val="1752256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5908D8EF-E9F1-381F-457C-98FF76896A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27" y="0"/>
            <a:ext cx="12237027" cy="7100596"/>
          </a:xfrm>
          <a:prstGeom prst="rect">
            <a:avLst/>
          </a:prstGeom>
        </p:spPr>
      </p:pic>
      <p:sp>
        <p:nvSpPr>
          <p:cNvPr id="5" name="כותרת 1">
            <a:extLst>
              <a:ext uri="{FF2B5EF4-FFF2-40B4-BE49-F238E27FC236}">
                <a16:creationId xmlns:a16="http://schemas.microsoft.com/office/drawing/2014/main" id="{FAD3782E-4F1E-34C8-930E-0461BB58BE07}"/>
              </a:ext>
            </a:extLst>
          </p:cNvPr>
          <p:cNvSpPr txBox="1">
            <a:spLocks/>
          </p:cNvSpPr>
          <p:nvPr/>
        </p:nvSpPr>
        <p:spPr>
          <a:xfrm>
            <a:off x="7128588" y="477737"/>
            <a:ext cx="3758681" cy="1453700"/>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b="1" i="1" dirty="0">
                <a:solidFill>
                  <a:schemeClr val="tx2">
                    <a:lumMod val="60000"/>
                    <a:lumOff val="40000"/>
                  </a:schemeClr>
                </a:solidFill>
                <a:latin typeface="Arial" panose="020B0604020202020204" pitchFamily="34" charset="0"/>
                <a:cs typeface="Arial" panose="020B0604020202020204" pitchFamily="34" charset="0"/>
              </a:rPr>
              <a:t>מזניק</a:t>
            </a:r>
            <a:r>
              <a:rPr lang="en-US" b="1" i="1" dirty="0">
                <a:solidFill>
                  <a:schemeClr val="tx2">
                    <a:lumMod val="60000"/>
                    <a:lumOff val="40000"/>
                  </a:schemeClr>
                </a:solidFill>
                <a:latin typeface="Arial" panose="020B0604020202020204" pitchFamily="34" charset="0"/>
                <a:cs typeface="Arial" panose="020B0604020202020204" pitchFamily="34" charset="0"/>
              </a:rPr>
              <a:t>(trigger)</a:t>
            </a:r>
            <a:br>
              <a:rPr lang="en-US" b="1" i="1" dirty="0">
                <a:solidFill>
                  <a:schemeClr val="tx2">
                    <a:lumMod val="60000"/>
                    <a:lumOff val="40000"/>
                  </a:schemeClr>
                </a:solidFill>
                <a:latin typeface="Arial" panose="020B0604020202020204" pitchFamily="34" charset="0"/>
                <a:cs typeface="Arial" panose="020B0604020202020204" pitchFamily="34" charset="0"/>
              </a:rPr>
            </a:br>
            <a:endParaRPr lang="he-IL" b="1" i="1" dirty="0">
              <a:solidFill>
                <a:schemeClr val="tx2">
                  <a:lumMod val="60000"/>
                  <a:lumOff val="40000"/>
                </a:schemeClr>
              </a:solidFill>
              <a:latin typeface="Arial" panose="020B0604020202020204" pitchFamily="34" charset="0"/>
              <a:cs typeface="Arial" panose="020B0604020202020204" pitchFamily="34" charset="0"/>
            </a:endParaRPr>
          </a:p>
        </p:txBody>
      </p:sp>
      <p:sp>
        <p:nvSpPr>
          <p:cNvPr id="8" name="תיבת טקסט 7">
            <a:extLst>
              <a:ext uri="{FF2B5EF4-FFF2-40B4-BE49-F238E27FC236}">
                <a16:creationId xmlns:a16="http://schemas.microsoft.com/office/drawing/2014/main" id="{C8A945B7-F2C9-638F-03E1-776DE2B37E01}"/>
              </a:ext>
            </a:extLst>
          </p:cNvPr>
          <p:cNvSpPr txBox="1"/>
          <p:nvPr/>
        </p:nvSpPr>
        <p:spPr>
          <a:xfrm>
            <a:off x="3586726" y="1399989"/>
            <a:ext cx="11476653" cy="369332"/>
          </a:xfrm>
          <a:prstGeom prst="rect">
            <a:avLst/>
          </a:prstGeom>
          <a:noFill/>
        </p:spPr>
        <p:txBody>
          <a:bodyPr wrap="square" rtlCol="1">
            <a:spAutoFit/>
          </a:bodyPr>
          <a:lstStyle/>
          <a:p>
            <a:r>
              <a:rPr lang="he-IL" dirty="0"/>
              <a:t>כאשר מטופל מצטרף לפעילות המזניק יעדכן אוטומטית את כמות המטופלים בפעילות :</a:t>
            </a:r>
          </a:p>
        </p:txBody>
      </p:sp>
      <p:sp>
        <p:nvSpPr>
          <p:cNvPr id="10" name="תיבת טקסט 9">
            <a:extLst>
              <a:ext uri="{FF2B5EF4-FFF2-40B4-BE49-F238E27FC236}">
                <a16:creationId xmlns:a16="http://schemas.microsoft.com/office/drawing/2014/main" id="{8220BF7D-13C2-B1BD-FC29-F59ED4DF2EA2}"/>
              </a:ext>
            </a:extLst>
          </p:cNvPr>
          <p:cNvSpPr txBox="1"/>
          <p:nvPr/>
        </p:nvSpPr>
        <p:spPr>
          <a:xfrm>
            <a:off x="444018" y="1931437"/>
            <a:ext cx="7664284" cy="4524315"/>
          </a:xfrm>
          <a:prstGeom prst="rect">
            <a:avLst/>
          </a:prstGeom>
          <a:noFill/>
        </p:spPr>
        <p:txBody>
          <a:bodyPr wrap="square">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trigger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UpdateActivityCount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Patients</a:t>
            </a:r>
          </a:p>
          <a:p>
            <a:r>
              <a:rPr lang="en-US" sz="1800" dirty="0">
                <a:solidFill>
                  <a:srgbClr val="0000FF"/>
                </a:solidFill>
                <a:latin typeface="Consolas" panose="020B0609020204030204" pitchFamily="49" charset="0"/>
              </a:rPr>
              <a:t>after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insert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nocount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if</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exists(</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1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inserted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ActCode</a:t>
            </a:r>
            <a:r>
              <a:rPr lang="en-US" sz="1800"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is</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not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null)</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begin</a:t>
            </a:r>
            <a:r>
              <a:rPr lang="en-US" dirty="0">
                <a:solidFill>
                  <a:srgbClr val="0000FF"/>
                </a:solidFill>
                <a:latin typeface="Consolas" panose="020B0609020204030204" pitchFamily="49" charset="0"/>
              </a:rPr>
              <a:t>  </a:t>
            </a:r>
            <a:endParaRPr lang="en-US" sz="1800" dirty="0">
              <a:solidFill>
                <a:srgbClr val="000000"/>
              </a:solidFill>
              <a:latin typeface="Consolas" panose="020B0609020204030204" pitchFamily="49" charset="0"/>
            </a:endParaRPr>
          </a:p>
          <a:p>
            <a:r>
              <a:rPr lang="en-US" sz="1800" dirty="0">
                <a:solidFill>
                  <a:srgbClr val="FF00FF"/>
                </a:solidFill>
                <a:latin typeface="Consolas" panose="020B0609020204030204" pitchFamily="49" charset="0"/>
              </a:rPr>
              <a:t>update</a:t>
            </a:r>
            <a:r>
              <a:rPr lang="en-US" sz="1800" dirty="0">
                <a:solidFill>
                  <a:srgbClr val="000000"/>
                </a:solidFill>
                <a:latin typeface="Consolas" panose="020B0609020204030204" pitchFamily="49" charset="0"/>
              </a:rPr>
              <a:t> Activities</a:t>
            </a:r>
          </a:p>
          <a:p>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CountP</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CountP</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I</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NumPatientsAdded</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Activities A </a:t>
            </a:r>
            <a:r>
              <a:rPr lang="en-US" sz="1800" dirty="0">
                <a:solidFill>
                  <a:srgbClr val="808080"/>
                </a:solidFill>
                <a:latin typeface="Consolas" panose="020B0609020204030204" pitchFamily="49" charset="0"/>
              </a:rPr>
              <a:t>inner</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join</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ActCode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P_Id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NumPatientsAdded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inserted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ActCode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group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ActCode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I </a:t>
            </a:r>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CodeAct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I</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ActCode</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he-IL" dirty="0"/>
          </a:p>
        </p:txBody>
      </p:sp>
    </p:spTree>
    <p:extLst>
      <p:ext uri="{BB962C8B-B14F-4D97-AF65-F5344CB8AC3E}">
        <p14:creationId xmlns:p14="http://schemas.microsoft.com/office/powerpoint/2010/main" val="3440558361"/>
      </p:ext>
    </p:extLst>
  </p:cSld>
  <p:clrMapOvr>
    <a:masterClrMapping/>
  </p:clrMapOvr>
</p:sld>
</file>

<file path=ppt/theme/theme1.xml><?xml version="1.0" encoding="utf-8"?>
<a:theme xmlns:a="http://schemas.openxmlformats.org/drawingml/2006/main" name="ערכת נושא Office">
  <a:themeElements>
    <a:clrScheme name="ערכת נושא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ערכת נושא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ערכת נושא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2660</TotalTime>
  <Words>2177</Words>
  <Application>Microsoft Office PowerPoint</Application>
  <PresentationFormat>מסך רחב</PresentationFormat>
  <Paragraphs>422</Paragraphs>
  <Slides>28</Slides>
  <Notes>1</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28</vt:i4>
      </vt:variant>
    </vt:vector>
  </HeadingPairs>
  <TitlesOfParts>
    <vt:vector size="33" baseType="lpstr">
      <vt:lpstr>Arial</vt:lpstr>
      <vt:lpstr>Calibri</vt:lpstr>
      <vt:lpstr>Calibri Light</vt:lpstr>
      <vt:lpstr>Consolas</vt:lpstr>
      <vt:lpstr>ערכת נושא Office</vt:lpstr>
      <vt:lpstr>מצגת של PowerPoint‏</vt:lpstr>
      <vt:lpstr>מבוא:</vt:lpstr>
      <vt:lpstr>מצגת של PowerPoint‏</vt:lpstr>
      <vt:lpstr>מצגת של PowerPoint‏</vt:lpstr>
      <vt:lpstr>מצגת של PowerPoint‏</vt:lpstr>
      <vt:lpstr>תיאור התלויות:</vt:lpstr>
      <vt:lpstr>אילוצים:</vt:lpstr>
      <vt:lpstr>1.  מספר חדר 2.  קומה 3.  מספר מיטות בחדר 4.  חדר VIP </vt:lpstr>
      <vt:lpstr>מצגת של PowerPoint‏</vt:lpstr>
      <vt:lpstr>מצגת של PowerPoint‏</vt:lpstr>
      <vt:lpstr>מצגת של PowerPoint‏</vt:lpstr>
      <vt:lpstr>מצגת של PowerPoint‏</vt:lpstr>
      <vt:lpstr>מצגת של PowerPoint‏</vt:lpstr>
      <vt:lpstr>שאילתות</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שרה יצחק</dc:creator>
  <cp:lastModifiedBy>שרה יצחק</cp:lastModifiedBy>
  <cp:revision>25</cp:revision>
  <dcterms:created xsi:type="dcterms:W3CDTF">2025-05-05T21:08:56Z</dcterms:created>
  <dcterms:modified xsi:type="dcterms:W3CDTF">2025-06-26T10:01:49Z</dcterms:modified>
</cp:coreProperties>
</file>